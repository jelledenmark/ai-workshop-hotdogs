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3.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9827b43-f3d8-329e-7927-fa150f5059cc}">
          <p14:sldIdLst>
            <p14:sldId id="256"/>
            <p14:sldId id="257"/>
            <p14:sldId id="258"/>
            <p14:sldId id="259"/>
          </p14:sldIdLst>
        </p14:section>
        <p14:section name="The data" id="{4ab64438-adfe-947e-d0be-2fa1d8fb9d02}">
          <p14:sldIdLst>
            <p14:sldId id="260"/>
            <p14:sldId id="261"/>
            <p14:sldId id="262"/>
            <p14:sldId id="263"/>
            <p14:sldId id="264"/>
          </p14:sldIdLst>
        </p14:section>
        <p14:section name="No-AI round" id="{5983e79b-077e-81a0-af89-bbcaf89b73a7}">
          <p14:sldIdLst>
            <p14:sldId id="265"/>
            <p14:sldId id="266"/>
          </p14:sldIdLst>
        </p14:section>
        <p14:section name="Your mission" id="{cf8d3eb0-deed-e40d-f016-a1f5b592584e}">
          <p14:sldIdLst>
            <p14:sldId id="267"/>
            <p14:sldId id="268"/>
            <p14:sldId id="269"/>
            <p14:sldId id="270"/>
          </p14:sldIdLst>
        </p14:section>
        <p14:section name="Reveal" id="{ddde2455-d2c0-f15d-b069-a7b448df8a35}">
          <p14:sldIdLst>
            <p14:sldId id="271"/>
            <p14:sldId id="272"/>
            <p14:sldId id="273"/>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D18"/>
                </a:solidFill>
                <a:latin typeface="+mn-lt"/>
              </a:defRPr>
            </a:pPr>
            <a:r>
              <a:rPr sz="1200" b="0" i="0" u="none" strike="noStrike">
                <a:solidFill>
                  <a:srgbClr val="2A1D18"/>
                </a:solidFill>
                <a:latin typeface="+mn-lt"/>
              </a:rPr>
              <a:t>Gross margin by month (%)</a:t>
            </a:r>
          </a:p>
        </c:rich>
      </c:tx>
      <c:layout/>
      <c:overlay val="0"/>
    </c:title>
    <c:autoTitleDeleted val="0"/>
    <c:plotArea>
      <c:layout/>
      <c:lineChart>
        <c:varyColors val="0"/>
        <c:ser>
          <c:idx val="0"/>
          <c:order val="0"/>
          <c:tx>
            <c:strRef>
              <c:f>Sheet1!$B$1</c:f>
              <c:strCache>
                <c:ptCount val="1"/>
                <c:pt idx="0">
                  <c:v>Copenhagen</c:v>
                </c:pt>
              </c:strCache>
            </c:strRef>
          </c:tx>
          <c:spPr>
            <a:solidFill>
              <a:srgbClr val="5B6770"/>
            </a:solidFill>
            <a:ln w="31750" cap="flat">
              <a:solidFill>
                <a:srgbClr val="5B67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5B6770"/>
              </a:solidFill>
              <a:ln w="9525" cap="flat">
                <a:solidFill>
                  <a:srgbClr val="5B6770"/>
                </a:solidFill>
                <a:prstDash val="solid"/>
                <a:round/>
              </a:ln>
              <a:effectLst/>
            </c:spPr>
          </c:marker>
          <c:cat>
            <c:multiLvlStrRef>
              <c:f>Sheet1!$A$2:$A$19</c:f>
              <c:multiLvlStrCache>
                <c:ptCount val="18"/>
                <c:lvl>
                  <c:pt idx="0">
                    <c:v>J 24</c:v>
                  </c:pt>
                  <c:pt idx="1">
                    <c:v>A</c:v>
                  </c:pt>
                  <c:pt idx="2">
                    <c:v>S</c:v>
                  </c:pt>
                  <c:pt idx="3">
                    <c:v>O</c:v>
                  </c:pt>
                  <c:pt idx="4">
                    <c:v>N</c:v>
                  </c:pt>
                  <c:pt idx="5">
                    <c:v>D</c:v>
                  </c:pt>
                  <c:pt idx="6">
                    <c:v>J 25</c:v>
                  </c:pt>
                  <c:pt idx="7">
                    <c:v>F</c:v>
                  </c:pt>
                  <c:pt idx="8">
                    <c:v>M</c:v>
                  </c:pt>
                  <c:pt idx="9">
                    <c:v>A</c:v>
                  </c:pt>
                  <c:pt idx="10">
                    <c:v>M</c:v>
                  </c:pt>
                  <c:pt idx="11">
                    <c:v>J</c:v>
                  </c:pt>
                  <c:pt idx="12">
                    <c:v>J</c:v>
                  </c:pt>
                  <c:pt idx="13">
                    <c:v>A</c:v>
                  </c:pt>
                  <c:pt idx="14">
                    <c:v>S</c:v>
                  </c:pt>
                  <c:pt idx="15">
                    <c:v>O</c:v>
                  </c:pt>
                  <c:pt idx="16">
                    <c:v>N</c:v>
                  </c:pt>
                  <c:pt idx="17">
                    <c:v>D</c:v>
                  </c:pt>
                </c:lvl>
              </c:multiLvlStrCache>
            </c:multiLvlStrRef>
          </c:cat>
          <c:val>
            <c:numRef>
              <c:f>Sheet1!$B$2:$B$19</c:f>
              <c:numCache>
                <c:formatCode>General</c:formatCode>
                <c:ptCount val="18"/>
                <c:pt idx="0">
                  <c:v>74.7</c:v>
                </c:pt>
                <c:pt idx="1">
                  <c:v>74.7</c:v>
                </c:pt>
                <c:pt idx="2">
                  <c:v>74.6</c:v>
                </c:pt>
                <c:pt idx="3">
                  <c:v>74.7</c:v>
                </c:pt>
                <c:pt idx="4">
                  <c:v>74.7</c:v>
                </c:pt>
                <c:pt idx="5">
                  <c:v>74.7</c:v>
                </c:pt>
                <c:pt idx="6">
                  <c:v>74.3</c:v>
                </c:pt>
                <c:pt idx="7">
                  <c:v>74.2</c:v>
                </c:pt>
                <c:pt idx="8">
                  <c:v>73.8</c:v>
                </c:pt>
                <c:pt idx="9">
                  <c:v>73.6</c:v>
                </c:pt>
                <c:pt idx="10">
                  <c:v>73.5</c:v>
                </c:pt>
                <c:pt idx="11">
                  <c:v>73.2</c:v>
                </c:pt>
                <c:pt idx="12">
                  <c:v>73.2</c:v>
                </c:pt>
                <c:pt idx="13">
                  <c:v>73.4</c:v>
                </c:pt>
                <c:pt idx="14">
                  <c:v>73.2</c:v>
                </c:pt>
                <c:pt idx="15">
                  <c:v>72.9</c:v>
                </c:pt>
                <c:pt idx="16">
                  <c:v>73.1</c:v>
                </c:pt>
                <c:pt idx="17">
                  <c:v>73</c:v>
                </c:pt>
              </c:numCache>
            </c:numRef>
          </c:val>
          <c:smooth val="0"/>
        </c:ser>
        <c:ser>
          <c:idx val="1"/>
          <c:order val="1"/>
          <c:tx>
            <c:strRef>
              <c:f>Sheet1!$C$1</c:f>
              <c:strCache>
                <c:ptCount val="1"/>
                <c:pt idx="0">
                  <c:v>Warsaw</c:v>
                </c:pt>
              </c:strCache>
            </c:strRef>
          </c:tx>
          <c:spPr>
            <a:solidFill>
              <a:srgbClr val="C62D1F"/>
            </a:solidFill>
            <a:ln w="31750" cap="flat">
              <a:solidFill>
                <a:srgbClr val="C62D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62D1F"/>
              </a:solidFill>
              <a:ln w="9525" cap="flat">
                <a:solidFill>
                  <a:srgbClr val="C62D1F"/>
                </a:solidFill>
                <a:prstDash val="solid"/>
                <a:round/>
              </a:ln>
              <a:effectLst/>
            </c:spPr>
          </c:marker>
          <c:cat>
            <c:multiLvlStrRef>
              <c:f>Sheet1!$A$2:$A$19</c:f>
              <c:multiLvlStrCache>
                <c:ptCount val="18"/>
                <c:lvl>
                  <c:pt idx="0">
                    <c:v>J 24</c:v>
                  </c:pt>
                  <c:pt idx="1">
                    <c:v>A</c:v>
                  </c:pt>
                  <c:pt idx="2">
                    <c:v>S</c:v>
                  </c:pt>
                  <c:pt idx="3">
                    <c:v>O</c:v>
                  </c:pt>
                  <c:pt idx="4">
                    <c:v>N</c:v>
                  </c:pt>
                  <c:pt idx="5">
                    <c:v>D</c:v>
                  </c:pt>
                  <c:pt idx="6">
                    <c:v>J 25</c:v>
                  </c:pt>
                  <c:pt idx="7">
                    <c:v>F</c:v>
                  </c:pt>
                  <c:pt idx="8">
                    <c:v>M</c:v>
                  </c:pt>
                  <c:pt idx="9">
                    <c:v>A</c:v>
                  </c:pt>
                  <c:pt idx="10">
                    <c:v>M</c:v>
                  </c:pt>
                  <c:pt idx="11">
                    <c:v>J</c:v>
                  </c:pt>
                  <c:pt idx="12">
                    <c:v>J</c:v>
                  </c:pt>
                  <c:pt idx="13">
                    <c:v>A</c:v>
                  </c:pt>
                  <c:pt idx="14">
                    <c:v>S</c:v>
                  </c:pt>
                  <c:pt idx="15">
                    <c:v>O</c:v>
                  </c:pt>
                  <c:pt idx="16">
                    <c:v>N</c:v>
                  </c:pt>
                  <c:pt idx="17">
                    <c:v>D</c:v>
                  </c:pt>
                </c:lvl>
              </c:multiLvlStrCache>
            </c:multiLvlStrRef>
          </c:cat>
          <c:val>
            <c:numRef>
              <c:f>Sheet1!$C$2:$C$19</c:f>
              <c:numCache>
                <c:formatCode>General</c:formatCode>
                <c:ptCount val="18"/>
                <c:pt idx="0">
                  <c:v>73.8</c:v>
                </c:pt>
                <c:pt idx="1">
                  <c:v>73.6</c:v>
                </c:pt>
                <c:pt idx="2">
                  <c:v>73.7</c:v>
                </c:pt>
                <c:pt idx="3">
                  <c:v>74</c:v>
                </c:pt>
                <c:pt idx="4">
                  <c:v>74.1</c:v>
                </c:pt>
                <c:pt idx="5">
                  <c:v>74.4</c:v>
                </c:pt>
                <c:pt idx="6">
                  <c:v>74.4</c:v>
                </c:pt>
                <c:pt idx="7">
                  <c:v>74.3</c:v>
                </c:pt>
                <c:pt idx="8">
                  <c:v>74.1</c:v>
                </c:pt>
                <c:pt idx="9">
                  <c:v>65.1</c:v>
                </c:pt>
                <c:pt idx="10">
                  <c:v>63.2</c:v>
                </c:pt>
                <c:pt idx="11">
                  <c:v>62.9</c:v>
                </c:pt>
                <c:pt idx="12">
                  <c:v>63.4</c:v>
                </c:pt>
                <c:pt idx="13">
                  <c:v>65</c:v>
                </c:pt>
                <c:pt idx="14">
                  <c:v>66.7</c:v>
                </c:pt>
                <c:pt idx="15">
                  <c:v>68.2</c:v>
                </c:pt>
                <c:pt idx="16">
                  <c:v>72.6</c:v>
                </c:pt>
                <c:pt idx="17">
                  <c:v>72.9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76"/>
          <c:min val="60"/>
        </c:scaling>
        <c:delete val="0"/>
        <c:axPos val="l"/>
        <c:majorGridlines>
          <c:spPr>
            <a:ln w="9525" cap="flat">
              <a:solidFill>
                <a:srgbClr val="E6E1D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1D1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D18"/>
                </a:solidFill>
                <a:latin typeface="+mn-lt"/>
              </a:defRPr>
            </a:pPr>
            <a:r>
              <a:rPr sz="1200" b="0" i="0" u="none" strike="noStrike">
                <a:solidFill>
                  <a:srgbClr val="2A1D18"/>
                </a:solidFill>
                <a:latin typeface="+mn-lt"/>
              </a:rPr>
              <a:t>Vegan dog, share of all units sold (%)</a:t>
            </a:r>
          </a:p>
        </c:rich>
      </c:tx>
      <c:layout/>
      <c:overlay val="0"/>
    </c:title>
    <c:autoTitleDeleted val="0"/>
    <c:plotArea>
      <c:layout/>
      <c:lineChart>
        <c:varyColors val="0"/>
        <c:ser>
          <c:idx val="0"/>
          <c:order val="0"/>
          <c:tx>
            <c:strRef>
              <c:f>Sheet1!$B$1</c:f>
              <c:strCache>
                <c:ptCount val="1"/>
                <c:pt idx="0">
                  <c:v>Copenhagen</c:v>
                </c:pt>
              </c:strCache>
            </c:strRef>
          </c:tx>
          <c:spPr>
            <a:solidFill>
              <a:srgbClr val="3F7D4E"/>
            </a:solidFill>
            <a:ln w="31750" cap="flat">
              <a:solidFill>
                <a:srgbClr val="3F7D4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3F7D4E"/>
              </a:solidFill>
              <a:ln w="9525" cap="flat">
                <a:solidFill>
                  <a:srgbClr val="3F7D4E"/>
                </a:solidFill>
                <a:prstDash val="solid"/>
                <a:round/>
              </a:ln>
              <a:effectLst/>
            </c:spPr>
          </c:marker>
          <c:cat>
            <c:multiLvlStrRef>
              <c:f>Sheet1!$A$2:$A$9</c:f>
              <c:multiLvlStrCache>
                <c:ptCount val="8"/>
                <c:lvl>
                  <c:pt idx="0">
                    <c:v>2024 Q1</c:v>
                  </c:pt>
                  <c:pt idx="1">
                    <c:v>2024 Q2</c:v>
                  </c:pt>
                  <c:pt idx="2">
                    <c:v>2024 Q3</c:v>
                  </c:pt>
                  <c:pt idx="3">
                    <c:v>2024 Q4</c:v>
                  </c:pt>
                  <c:pt idx="4">
                    <c:v>2025 Q1</c:v>
                  </c:pt>
                  <c:pt idx="5">
                    <c:v>2025 Q2</c:v>
                  </c:pt>
                  <c:pt idx="6">
                    <c:v>2025 Q3</c:v>
                  </c:pt>
                  <c:pt idx="7">
                    <c:v>2025 Q4</c:v>
                  </c:pt>
                </c:lvl>
              </c:multiLvlStrCache>
            </c:multiLvlStrRef>
          </c:cat>
          <c:val>
            <c:numRef>
              <c:f>Sheet1!$B$2:$B$9</c:f>
              <c:numCache>
                <c:formatCode>General</c:formatCode>
                <c:ptCount val="8"/>
                <c:pt idx="0">
                  <c:v>4.9</c:v>
                </c:pt>
                <c:pt idx="1">
                  <c:v>6.4</c:v>
                </c:pt>
                <c:pt idx="2">
                  <c:v>8</c:v>
                </c:pt>
                <c:pt idx="3">
                  <c:v>9.3</c:v>
                </c:pt>
                <c:pt idx="4">
                  <c:v>11.2</c:v>
                </c:pt>
                <c:pt idx="5">
                  <c:v>12.9</c:v>
                </c:pt>
                <c:pt idx="6">
                  <c:v>14.6</c:v>
                </c:pt>
                <c:pt idx="7">
                  <c:v>15.7</c:v>
                </c:pt>
              </c:numCache>
            </c:numRef>
          </c:val>
          <c:smooth val="0"/>
        </c:ser>
        <c:ser>
          <c:idx val="1"/>
          <c:order val="1"/>
          <c:tx>
            <c:strRef>
              <c:f>Sheet1!$C$1</c:f>
              <c:strCache>
                <c:ptCount val="1"/>
                <c:pt idx="0">
                  <c:v>Warsaw</c:v>
                </c:pt>
              </c:strCache>
            </c:strRef>
          </c:tx>
          <c:spPr>
            <a:solidFill>
              <a:srgbClr val="E8A33D"/>
            </a:solidFill>
            <a:ln w="31750" cap="flat">
              <a:solidFill>
                <a:srgbClr val="E8A3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E8A33D"/>
              </a:solidFill>
              <a:ln w="9525" cap="flat">
                <a:solidFill>
                  <a:srgbClr val="E8A33D"/>
                </a:solidFill>
                <a:prstDash val="solid"/>
                <a:round/>
              </a:ln>
              <a:effectLst/>
            </c:spPr>
          </c:marker>
          <c:cat>
            <c:multiLvlStrRef>
              <c:f>Sheet1!$A$2:$A$9</c:f>
              <c:multiLvlStrCache>
                <c:ptCount val="8"/>
                <c:lvl>
                  <c:pt idx="0">
                    <c:v>2024 Q1</c:v>
                  </c:pt>
                  <c:pt idx="1">
                    <c:v>2024 Q2</c:v>
                  </c:pt>
                  <c:pt idx="2">
                    <c:v>2024 Q3</c:v>
                  </c:pt>
                  <c:pt idx="3">
                    <c:v>2024 Q4</c:v>
                  </c:pt>
                  <c:pt idx="4">
                    <c:v>2025 Q1</c:v>
                  </c:pt>
                  <c:pt idx="5">
                    <c:v>2025 Q2</c:v>
                  </c:pt>
                  <c:pt idx="6">
                    <c:v>2025 Q3</c:v>
                  </c:pt>
                  <c:pt idx="7">
                    <c:v>2025 Q4</c:v>
                  </c:pt>
                </c:lvl>
              </c:multiLvlStrCache>
            </c:multiLvlStrRef>
          </c:cat>
          <c:val>
            <c:numRef>
              <c:f>Sheet1!$C$2:$C$9</c:f>
              <c:numCache>
                <c:formatCode>General</c:formatCode>
                <c:ptCount val="8"/>
                <c:pt idx="0">
                  <c:v>3.3</c:v>
                </c:pt>
                <c:pt idx="1">
                  <c:v>3.8</c:v>
                </c:pt>
                <c:pt idx="2">
                  <c:v>4.6</c:v>
                </c:pt>
                <c:pt idx="3">
                  <c:v>5</c:v>
                </c:pt>
                <c:pt idx="4">
                  <c:v>5.8</c:v>
                </c:pt>
                <c:pt idx="5">
                  <c:v>6.5</c:v>
                </c:pt>
                <c:pt idx="6">
                  <c:v>7</c:v>
                </c:pt>
                <c:pt idx="7">
                  <c:v>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18"/>
          <c:min val="0"/>
        </c:scaling>
        <c:delete val="0"/>
        <c:axPos val="l"/>
        <c:majorGridlines>
          <c:spPr>
            <a:ln w="9525" cap="flat">
              <a:solidFill>
                <a:srgbClr val="E6E1D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1D18"/>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A1D18"/>
                </a:solidFill>
                <a:latin typeface="+mn-lt"/>
              </a:defRPr>
            </a:pPr>
            <a:r>
              <a:rPr sz="1200" b="0" i="0" u="none" strike="noStrike">
                <a:solidFill>
                  <a:srgbClr val="2A1D18"/>
                </a:solidFill>
                <a:latin typeface="+mn-lt"/>
              </a:rPr>
              <a:t>Share of revenue paid by card (%)</a:t>
            </a:r>
          </a:p>
        </c:rich>
      </c:tx>
      <c:layout/>
      <c:overlay val="0"/>
    </c:title>
    <c:autoTitleDeleted val="0"/>
    <c:plotArea>
      <c:layout/>
      <c:lineChart>
        <c:varyColors val="0"/>
        <c:ser>
          <c:idx val="0"/>
          <c:order val="0"/>
          <c:tx>
            <c:strRef>
              <c:f>Sheet1!$B$1</c:f>
              <c:strCache>
                <c:ptCount val="1"/>
                <c:pt idx="0">
                  <c:v>C4 Christianshavn</c:v>
                </c:pt>
              </c:strCache>
            </c:strRef>
          </c:tx>
          <c:spPr>
            <a:solidFill>
              <a:srgbClr val="C62D1F"/>
            </a:solidFill>
            <a:ln w="31750" cap="flat">
              <a:solidFill>
                <a:srgbClr val="C62D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62D1F"/>
              </a:solidFill>
              <a:ln w="9525" cap="flat">
                <a:solidFill>
                  <a:srgbClr val="C62D1F"/>
                </a:solidFill>
                <a:prstDash val="solid"/>
                <a:round/>
              </a:ln>
              <a:effectLst/>
            </c:spPr>
          </c:marker>
          <c:cat>
            <c:multiLvlStrRef>
              <c:f>Sheet1!$A$2:$A$9</c:f>
              <c:multiLvlStrCache>
                <c:ptCount val="8"/>
                <c:lvl>
                  <c:pt idx="0">
                    <c:v>2024 Q1</c:v>
                  </c:pt>
                  <c:pt idx="1">
                    <c:v>2024 Q2</c:v>
                  </c:pt>
                  <c:pt idx="2">
                    <c:v>2024 Q3</c:v>
                  </c:pt>
                  <c:pt idx="3">
                    <c:v>2024 Q4</c:v>
                  </c:pt>
                  <c:pt idx="4">
                    <c:v>2025 Q1</c:v>
                  </c:pt>
                  <c:pt idx="5">
                    <c:v>2025 Q2</c:v>
                  </c:pt>
                  <c:pt idx="6">
                    <c:v>2025 Q3</c:v>
                  </c:pt>
                  <c:pt idx="7">
                    <c:v>2025 Q4</c:v>
                  </c:pt>
                </c:lvl>
              </c:multiLvlStrCache>
            </c:multiLvlStrRef>
          </c:cat>
          <c:val>
            <c:numRef>
              <c:f>Sheet1!$B$2:$B$9</c:f>
              <c:numCache>
                <c:formatCode>General</c:formatCode>
                <c:ptCount val="8"/>
                <c:pt idx="0">
                  <c:v>68.4</c:v>
                </c:pt>
                <c:pt idx="1">
                  <c:v>69.4</c:v>
                </c:pt>
                <c:pt idx="2">
                  <c:v>69.9</c:v>
                </c:pt>
                <c:pt idx="3">
                  <c:v>70.6</c:v>
                </c:pt>
                <c:pt idx="4">
                  <c:v>76.2</c:v>
                </c:pt>
                <c:pt idx="5">
                  <c:v>85.3</c:v>
                </c:pt>
                <c:pt idx="6">
                  <c:v>85.6</c:v>
                </c:pt>
                <c:pt idx="7">
                  <c:v>85.5</c:v>
                </c:pt>
              </c:numCache>
            </c:numRef>
          </c:val>
          <c:smooth val="0"/>
        </c:ser>
        <c:ser>
          <c:idx val="1"/>
          <c:order val="1"/>
          <c:tx>
            <c:strRef>
              <c:f>Sheet1!$C$1</c:f>
              <c:strCache>
                <c:ptCount val="1"/>
                <c:pt idx="0">
                  <c:v>Other Copenhagen stands</c:v>
                </c:pt>
              </c:strCache>
            </c:strRef>
          </c:tx>
          <c:spPr>
            <a:solidFill>
              <a:srgbClr val="5B6770"/>
            </a:solidFill>
            <a:ln w="31750" cap="flat">
              <a:solidFill>
                <a:srgbClr val="5B67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5B6770"/>
              </a:solidFill>
              <a:ln w="9525" cap="flat">
                <a:solidFill>
                  <a:srgbClr val="5B6770"/>
                </a:solidFill>
                <a:prstDash val="solid"/>
                <a:round/>
              </a:ln>
              <a:effectLst/>
            </c:spPr>
          </c:marker>
          <c:cat>
            <c:multiLvlStrRef>
              <c:f>Sheet1!$A$2:$A$9</c:f>
              <c:multiLvlStrCache>
                <c:ptCount val="8"/>
                <c:lvl>
                  <c:pt idx="0">
                    <c:v>2024 Q1</c:v>
                  </c:pt>
                  <c:pt idx="1">
                    <c:v>2024 Q2</c:v>
                  </c:pt>
                  <c:pt idx="2">
                    <c:v>2024 Q3</c:v>
                  </c:pt>
                  <c:pt idx="3">
                    <c:v>2024 Q4</c:v>
                  </c:pt>
                  <c:pt idx="4">
                    <c:v>2025 Q1</c:v>
                  </c:pt>
                  <c:pt idx="5">
                    <c:v>2025 Q2</c:v>
                  </c:pt>
                  <c:pt idx="6">
                    <c:v>2025 Q3</c:v>
                  </c:pt>
                  <c:pt idx="7">
                    <c:v>2025 Q4</c:v>
                  </c:pt>
                </c:lvl>
              </c:multiLvlStrCache>
            </c:multiLvlStrRef>
          </c:cat>
          <c:val>
            <c:numRef>
              <c:f>Sheet1!$C$2:$C$9</c:f>
              <c:numCache>
                <c:formatCode>General</c:formatCode>
                <c:ptCount val="8"/>
                <c:pt idx="0">
                  <c:v>68.3</c:v>
                </c:pt>
                <c:pt idx="1">
                  <c:v>69.1</c:v>
                </c:pt>
                <c:pt idx="2">
                  <c:v>69.5</c:v>
                </c:pt>
                <c:pt idx="3">
                  <c:v>70.8</c:v>
                </c:pt>
                <c:pt idx="4">
                  <c:v>71.5</c:v>
                </c:pt>
                <c:pt idx="5">
                  <c:v>71.8</c:v>
                </c:pt>
                <c:pt idx="6">
                  <c:v>73</c:v>
                </c:pt>
                <c:pt idx="7">
                  <c:v>73.9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5B6770"/>
                </a:solidFill>
                <a:latin typeface="+mn-lt"/>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E6E1DA"/>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1000" b="0" i="0" u="none" strike="noStrike">
                <a:solidFill>
                  <a:srgbClr val="5B677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A1D18"/>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Hej to the Copenhagen side, cześć to the Warsaw side. Today we run a hot dog empire across both our cities - and we use AI to work out what is really going on in it. The data is fully synthetic: nothing here is real, so you can paste it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bulk of the time is the build: 50 minutes in pairs. The no-AI round can also be sent out as a pre-read instead - in that case skip slide 'Round zero' and go straight to the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stands per city, mirroring our two offices. Each city has a local hero on the menu: the Danish rød pølse and the Polish zapiekanka. Everything else - classic hot dog, chili cheese dog, vegan dog, fries, drinks - is sold in both cities.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board meets next week. The CEO wants a dashboard that answers these three questions. That is your brief for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anyone touches AI, let's get a feel for the data. Smacznego and velbekomme both mean: enjoy your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is the centre. Every other table adds context: who runs the stand, what the item costs, what the weather was, whether there was a match, what the exchange rate was, what ingredients cost, and what the manager wrote that day. No single table tells the full story - the interesting answers sit in the 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real rows from 14 June 2025: one item, five stands. Look at the numbers: 4,410 in Copenhagen and 2,080 in Warsaw - but in different currencies. Keep that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printed the sales table it would be around 800 pages. The logbook alone would take an afternoon to read. This is exactly the kind of problem where AI earns its keep - but only if we can still judge what it tells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facts about the data, not findings - we are not giving anything away. But each of them is a place where a quick analysis can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Bez AI and uden AI: without AI. If you sent the no-AI round as a pre-read, skip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open the CSVs in Excel - no AI. Collect the sticky notes and keep them for the reveal. Most pairs will answer from raw revenue numbers, which is exactly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dzieła and lad os komme i gang: let's get to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everyone where the data is. Suggest they pick the strongest model available - in our dry run, the choice of model made a huge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rule is a real-world lesson: synthetic data is safe to paste into any tool, real company data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several hidden stories in the data, from easy to hard, plus a couple of traps. We reveal everything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from here after all pairs have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 few sticky notes out loud. Fill in the middle column live or on the whiteboard.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Bonus point if someone explained why the Warsaw stadium stand fell 6% in 2025: there were 19 home matches instead of 24. Not a performance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only shows up if you look at margin, not revenue - and then dig into supplier prices. The logbook also has managers complaining that the ketchup supplier raised prices again. Copenhagen buys from a different supplier and was not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Warsaw follows the same trend, just more slowly. Good discussion point: growth is great, but the vegan dog earns a slightly lower margin per unit than the sausages it replaces.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cities have a marathon and a Christmas market. The marathon effect is a nice example of a product-mix shift, not a volume shift.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showpiece. Total revenue only fell about 7%, which is easy to dismiss as a bad year. The pattern is in the split between card and cash. Discussion: as a control function, what alert would have caught this in month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Minus one point for falling in. For a market risk team, the currency trap should hurt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two AI agents on the same pack with no human steering. The stronger model was impressively close to perfect, and still made a confident mistake: the supplier data plainly shows ketchup spiking, not sausage. Speed is real. So is the need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last few minutes as a retro. Go round the room: one task each in our own work where this could help - and one place where it would worry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in Danish and Polish. Hand out the awards.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394960" cy="12801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Title</a:t>
            </a:r>
            <a:endParaRPr lang="en-US" sz="4400" dirty="0"/>
          </a:p>
        </p:txBody>
      </p:sp>
      <p:sp>
        <p:nvSpPr>
          <p:cNvPr id="3" name="Text 0"/>
          <p:cNvSpPr/>
          <p:nvPr>
            <p:ph idx="101" type="body" hasCustomPrompt="1"/>
          </p:nvPr>
        </p:nvSpPr>
        <p:spPr>
          <a:xfrm>
            <a:off x="548640" y="2788920"/>
            <a:ext cx="539496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r>
              <a:rPr lang="en-US" sz="1800" dirty="0">
                <a:solidFill>
                  <a:schemeClr val="bg2"/>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5669280" cy="9144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r>
              <a:rPr lang="en-US" sz="4000" b="1" dirty="0">
                <a:solidFill>
                  <a:schemeClr val="bg1"/>
                </a:solidFill>
              </a:rPr>
              <a:t>Section</a:t>
            </a:r>
            <a:endParaRPr lang="en-US" sz="4000" dirty="0"/>
          </a:p>
        </p:txBody>
      </p:sp>
      <p:sp>
        <p:nvSpPr>
          <p:cNvPr id="3" name="Text 0"/>
          <p:cNvSpPr/>
          <p:nvPr>
            <p:ph idx="101" type="body" hasCustomPrompt="1"/>
          </p:nvPr>
        </p:nvSpPr>
        <p:spPr>
          <a:xfrm>
            <a:off x="548640" y="2697480"/>
            <a:ext cx="5669280" cy="548640"/>
          </a:xfrm>
          <a:prstGeom prst="rect">
            <a:avLst/>
          </a:prstGeom>
          <a:noFill/>
          <a:ln/>
        </p:spPr>
        <p:txBody>
          <a:bodyPr wrap="square" rtlCol="0"/>
          <a:lstStyle>
            <a:lvl1pPr indent="0" marL="0">
              <a:buNone/>
              <a:defRPr lang="en-US" sz="2000" i="1" dirty="0">
                <a:solidFill>
                  <a:schemeClr val="accent2"/>
                </a:solidFill>
              </a:defRPr>
            </a:lvl1pPr>
          </a:lstStyle>
          <a:p>
            <a:pPr indent="0" marL="0">
              <a:buNone/>
            </a:pPr>
            <a:r>
              <a:rPr lang="en-US" sz="2000" i="1" dirty="0">
                <a:solidFill>
                  <a:schemeClr val="accent2"/>
                </a:solidFill>
              </a:rPr>
              <a:t>Kicker</a:t>
            </a: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8275320" y="329184"/>
            <a:ext cx="411480" cy="411480"/>
          </a:xfrm>
          <a:prstGeom prst="rect">
            <a:avLst/>
          </a:prstGeom>
        </p:spPr>
      </p:pic>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900" dirty="0">
                <a:solidFill>
                  <a:schemeClr val="accent5"/>
                </a:solidFill>
              </a:rPr>
              <a:t>Frankly Delicious  ·  AI workshop</a:t>
            </a:r>
            <a:endParaRPr lang="en-US" sz="900" dirty="0"/>
          </a:p>
        </p:txBody>
      </p:sp>
      <p:sp>
        <p:nvSpPr>
          <p:cNvPr id="4" name="Text 1"/>
          <p:cNvSpPr/>
          <p:nvPr>
            <p:ph idx="102" type="title" hasCustomPrompt="1"/>
          </p:nvPr>
        </p:nvSpPr>
        <p:spPr>
          <a:xfrm>
            <a:off x="457200" y="274320"/>
            <a:ext cx="7680960" cy="59436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r>
              <a:rPr lang="en-US" sz="2800" b="1" dirty="0">
                <a:solidFill>
                  <a:schemeClr val="tx2"/>
                </a:solidFill>
              </a:rPr>
              <a:t>Title</a:t>
            </a:r>
            <a:endParaRPr lang="en-US" sz="28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4.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4.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4.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4.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394960" cy="1280160"/>
          </a:xfrm>
          <a:prstGeom prst="rect">
            <a:avLst/>
          </a:prstGeom>
          <a:noFill/>
          <a:ln/>
        </p:spPr>
        <p:txBody>
          <a:bodyPr wrap="square" lIns="0" tIns="0" rIns="0" bIns="0" rtlCol="0" anchor="b"/>
          <a:lstStyle/>
          <a:p>
            <a:pPr algn="l" indent="0" marL="0">
              <a:buNone/>
            </a:pPr>
            <a:r>
              <a:rPr lang="en-US" sz="4400" b="1" dirty="0">
                <a:solidFill>
                  <a:schemeClr val="bg1"/>
                </a:solidFill>
              </a:rPr>
              <a:t>Frankly Delicious</a:t>
            </a:r>
            <a:endParaRPr lang="en-US" sz="4400" dirty="0"/>
          </a:p>
        </p:txBody>
      </p:sp>
      <p:sp>
        <p:nvSpPr>
          <p:cNvPr id="3" name="Text 0"/>
          <p:cNvSpPr/>
          <p:nvPr>
            <p:ph idx="101" type="body" hasCustomPrompt="1"/>
          </p:nvPr>
        </p:nvSpPr>
        <p:spPr>
          <a:xfrm>
            <a:off x="548640" y="2788920"/>
            <a:ext cx="5394960" cy="914400"/>
          </a:xfrm>
          <a:prstGeom prst="rect">
            <a:avLst/>
          </a:prstGeom>
          <a:noFill/>
          <a:ln/>
        </p:spPr>
        <p:txBody>
          <a:bodyPr wrap="square" lIns="0" tIns="0" rIns="0" bIns="0" rtlCol="0" anchor="t"/>
          <a:lstStyle/>
          <a:p>
            <a:pPr indent="0" marL="0">
              <a:buNone/>
            </a:pPr>
            <a:r>
              <a:rPr lang="en-US" sz="1800" dirty="0">
                <a:solidFill>
                  <a:schemeClr val="bg2"/>
                </a:solidFill>
              </a:rPr>
              <a:t>An AI workshop on the hot dog empire of Copenhagen and Warsaw</a:t>
            </a:r>
            <a:endParaRPr lang="en-US" sz="1800" dirty="0"/>
          </a:p>
        </p:txBody>
      </p:sp>
      <p:sp>
        <p:nvSpPr>
          <p:cNvPr id="4" name="Text 2"/>
          <p:cNvSpPr txBox="1"/>
          <p:nvPr/>
        </p:nvSpPr>
        <p:spPr>
          <a:xfrm>
            <a:off x="548640" y="640080"/>
            <a:ext cx="4572000" cy="457200"/>
          </a:xfrm>
          <a:prstGeom prst="rect">
            <a:avLst/>
          </a:prstGeom>
          <a:noFill/>
          <a:ln/>
        </p:spPr>
        <p:txBody>
          <a:bodyPr wrap="square" lIns="0" tIns="0" rIns="0" bIns="0" rtlCol="0" anchor="t"/>
          <a:lstStyle/>
          <a:p>
            <a:pPr indent="0" marL="0">
              <a:buNone/>
            </a:pPr>
            <a:r>
              <a:rPr lang="en-US" sz="2200" b="1" i="1" dirty="0">
                <a:solidFill>
                  <a:schemeClr val="accent2"/>
                </a:solidFill>
              </a:rPr>
              <a:t>Hej!  ·  Cześć!</a:t>
            </a:r>
            <a:endParaRPr lang="en-US" sz="2200" dirty="0"/>
          </a:p>
        </p:txBody>
      </p:sp>
      <p:pic>
        <p:nvPicPr>
          <p:cNvPr id="5" name="hot dog" descr="preencoded.png">    </p:cNvPr>
          <p:cNvPicPr>
            <a:picLocks noChangeAspect="1"/>
          </p:cNvPicPr>
          <p:nvPr/>
        </p:nvPicPr>
        <p:blipFill>
          <a:blip r:embed="rId1"/>
          <a:stretch>
            <a:fillRect/>
          </a:stretch>
        </p:blipFill>
        <p:spPr>
          <a:xfrm>
            <a:off x="6126480" y="1005840"/>
            <a:ext cx="2651760" cy="2651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Today's menu: 90 minutes</a:t>
            </a:r>
            <a:endParaRPr lang="en-US" sz="2800" dirty="0"/>
          </a:p>
        </p:txBody>
      </p:sp>
      <p:sp>
        <p:nvSpPr>
          <p:cNvPr id="3" name="agenda step"/>
          <p:cNvSpPr/>
          <p:nvPr/>
        </p:nvSpPr>
        <p:spPr>
          <a:xfrm>
            <a:off x="457200" y="1325880"/>
            <a:ext cx="1463040" cy="2926080"/>
          </a:xfrm>
          <a:prstGeom prst="roundRect">
            <a:avLst>
              <a:gd name="adj" fmla="val 7500"/>
            </a:avLst>
          </a:prstGeom>
          <a:solidFill>
            <a:schemeClr val="bg2"/>
          </a:solidFill>
          <a:ln w="12700">
            <a:solidFill>
              <a:schemeClr val="bg2"/>
            </a:solidFill>
            <a:prstDash val="solid"/>
          </a:ln>
        </p:spPr>
      </p:sp>
      <p:sp>
        <p:nvSpPr>
          <p:cNvPr id="4" name="icon circle"/>
          <p:cNvSpPr/>
          <p:nvPr/>
        </p:nvSpPr>
        <p:spPr>
          <a:xfrm>
            <a:off x="914400" y="160020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1035101" y="1720901"/>
            <a:ext cx="307238" cy="307238"/>
          </a:xfrm>
          <a:prstGeom prst="rect">
            <a:avLst/>
          </a:prstGeom>
        </p:spPr>
      </p:pic>
      <p:sp>
        <p:nvSpPr>
          <p:cNvPr id="6" name="Text 3"/>
          <p:cNvSpPr txBox="1"/>
          <p:nvPr/>
        </p:nvSpPr>
        <p:spPr>
          <a:xfrm>
            <a:off x="548640" y="2331720"/>
            <a:ext cx="12801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Bookman Old Style" pitchFamily="34" charset="0"/>
                <a:ea typeface="Bookman Old Style" pitchFamily="34" charset="-122"/>
                <a:cs typeface="Bookman Old Style" pitchFamily="34" charset="-120"/>
              </a:rPr>
              <a:t>10 min</a:t>
            </a:r>
            <a:endParaRPr lang="en-US" sz="2200" dirty="0"/>
          </a:p>
        </p:txBody>
      </p:sp>
      <p:sp>
        <p:nvSpPr>
          <p:cNvPr id="7" name="Text 4"/>
          <p:cNvSpPr txBox="1"/>
          <p:nvPr/>
        </p:nvSpPr>
        <p:spPr>
          <a:xfrm>
            <a:off x="548640" y="2880360"/>
            <a:ext cx="1280160" cy="365760"/>
          </a:xfrm>
          <a:prstGeom prst="rect">
            <a:avLst/>
          </a:prstGeom>
          <a:noFill/>
          <a:ln/>
        </p:spPr>
        <p:txBody>
          <a:bodyPr wrap="square" lIns="0" tIns="0" rIns="0" bIns="0" rtlCol="0" anchor="t"/>
          <a:lstStyle/>
          <a:p>
            <a:pPr algn="ctr" indent="0" marL="0">
              <a:buNone/>
            </a:pPr>
            <a:r>
              <a:rPr lang="en-US" sz="1500" b="1" dirty="0">
                <a:solidFill>
                  <a:schemeClr val="tx1"/>
                </a:solidFill>
              </a:rPr>
              <a:t>Intro</a:t>
            </a:r>
            <a:endParaRPr lang="en-US" sz="1500" dirty="0"/>
          </a:p>
        </p:txBody>
      </p:sp>
      <p:sp>
        <p:nvSpPr>
          <p:cNvPr id="8" name="Text 5"/>
          <p:cNvSpPr txBox="1"/>
          <p:nvPr/>
        </p:nvSpPr>
        <p:spPr>
          <a:xfrm>
            <a:off x="594360" y="3291840"/>
            <a:ext cx="1188720" cy="822960"/>
          </a:xfrm>
          <a:prstGeom prst="rect">
            <a:avLst/>
          </a:prstGeom>
          <a:noFill/>
          <a:ln/>
        </p:spPr>
        <p:txBody>
          <a:bodyPr wrap="square" lIns="0" tIns="0" rIns="0" bIns="0" rtlCol="0" anchor="t"/>
          <a:lstStyle/>
          <a:p>
            <a:pPr algn="ctr" indent="0" marL="0">
              <a:buNone/>
            </a:pPr>
            <a:r>
              <a:rPr lang="en-US" sz="1200" dirty="0">
                <a:solidFill>
                  <a:schemeClr val="accent5"/>
                </a:solidFill>
              </a:rPr>
              <a:t>Meet the empire and the data</a:t>
            </a:r>
            <a:endParaRPr lang="en-US" sz="1200" dirty="0"/>
          </a:p>
        </p:txBody>
      </p:sp>
      <p:sp>
        <p:nvSpPr>
          <p:cNvPr id="9" name="agenda step"/>
          <p:cNvSpPr/>
          <p:nvPr/>
        </p:nvSpPr>
        <p:spPr>
          <a:xfrm>
            <a:off x="2121408" y="1325880"/>
            <a:ext cx="1463040" cy="2926080"/>
          </a:xfrm>
          <a:prstGeom prst="roundRect">
            <a:avLst>
              <a:gd name="adj" fmla="val 7500"/>
            </a:avLst>
          </a:prstGeom>
          <a:solidFill>
            <a:schemeClr val="bg2"/>
          </a:solidFill>
          <a:ln w="12700">
            <a:solidFill>
              <a:schemeClr val="bg2"/>
            </a:solidFill>
            <a:prstDash val="solid"/>
          </a:ln>
        </p:spPr>
      </p:sp>
      <p:sp>
        <p:nvSpPr>
          <p:cNvPr id="10" name="icon circle"/>
          <p:cNvSpPr/>
          <p:nvPr/>
        </p:nvSpPr>
        <p:spPr>
          <a:xfrm>
            <a:off x="2578608" y="1600200"/>
            <a:ext cx="548640" cy="54864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2699309" y="1720901"/>
            <a:ext cx="307238" cy="307238"/>
          </a:xfrm>
          <a:prstGeom prst="rect">
            <a:avLst/>
          </a:prstGeom>
        </p:spPr>
      </p:pic>
      <p:sp>
        <p:nvSpPr>
          <p:cNvPr id="12" name="Text 8"/>
          <p:cNvSpPr txBox="1"/>
          <p:nvPr/>
        </p:nvSpPr>
        <p:spPr>
          <a:xfrm>
            <a:off x="2212848" y="2331720"/>
            <a:ext cx="12801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Bookman Old Style" pitchFamily="34" charset="0"/>
                <a:ea typeface="Bookman Old Style" pitchFamily="34" charset="-122"/>
                <a:cs typeface="Bookman Old Style" pitchFamily="34" charset="-120"/>
              </a:rPr>
              <a:t>5 min</a:t>
            </a:r>
            <a:endParaRPr lang="en-US" sz="2200" dirty="0"/>
          </a:p>
        </p:txBody>
      </p:sp>
      <p:sp>
        <p:nvSpPr>
          <p:cNvPr id="13" name="Text 9"/>
          <p:cNvSpPr txBox="1"/>
          <p:nvPr/>
        </p:nvSpPr>
        <p:spPr>
          <a:xfrm>
            <a:off x="2212848" y="2880360"/>
            <a:ext cx="1280160" cy="365760"/>
          </a:xfrm>
          <a:prstGeom prst="rect">
            <a:avLst/>
          </a:prstGeom>
          <a:noFill/>
          <a:ln/>
        </p:spPr>
        <p:txBody>
          <a:bodyPr wrap="square" lIns="0" tIns="0" rIns="0" bIns="0" rtlCol="0" anchor="t"/>
          <a:lstStyle/>
          <a:p>
            <a:pPr algn="ctr" indent="0" marL="0">
              <a:buNone/>
            </a:pPr>
            <a:r>
              <a:rPr lang="en-US" sz="1500" b="1" dirty="0">
                <a:solidFill>
                  <a:schemeClr val="tx1"/>
                </a:solidFill>
              </a:rPr>
              <a:t>No-AI round</a:t>
            </a:r>
            <a:endParaRPr lang="en-US" sz="1500" dirty="0"/>
          </a:p>
        </p:txBody>
      </p:sp>
      <p:sp>
        <p:nvSpPr>
          <p:cNvPr id="14" name="Text 10"/>
          <p:cNvSpPr txBox="1"/>
          <p:nvPr/>
        </p:nvSpPr>
        <p:spPr>
          <a:xfrm>
            <a:off x="2258568" y="3291840"/>
            <a:ext cx="1188720" cy="822960"/>
          </a:xfrm>
          <a:prstGeom prst="rect">
            <a:avLst/>
          </a:prstGeom>
          <a:noFill/>
          <a:ln/>
        </p:spPr>
        <p:txBody>
          <a:bodyPr wrap="square" lIns="0" tIns="0" rIns="0" bIns="0" rtlCol="0" anchor="t"/>
          <a:lstStyle/>
          <a:p>
            <a:pPr algn="ctr" indent="0" marL="0">
              <a:buNone/>
            </a:pPr>
            <a:r>
              <a:rPr lang="en-US" sz="1200" dirty="0">
                <a:solidFill>
                  <a:schemeClr val="accent5"/>
                </a:solidFill>
              </a:rPr>
              <a:t>Just you, Excel and your gut</a:t>
            </a:r>
            <a:endParaRPr lang="en-US" sz="1200" dirty="0"/>
          </a:p>
        </p:txBody>
      </p:sp>
      <p:sp>
        <p:nvSpPr>
          <p:cNvPr id="15" name="agenda step"/>
          <p:cNvSpPr/>
          <p:nvPr/>
        </p:nvSpPr>
        <p:spPr>
          <a:xfrm>
            <a:off x="3785616" y="1325880"/>
            <a:ext cx="1463040" cy="2926080"/>
          </a:xfrm>
          <a:prstGeom prst="roundRect">
            <a:avLst>
              <a:gd name="adj" fmla="val 7500"/>
            </a:avLst>
          </a:prstGeom>
          <a:solidFill>
            <a:schemeClr val="accent2"/>
          </a:solidFill>
          <a:ln w="12700">
            <a:solidFill>
              <a:schemeClr val="accent2"/>
            </a:solidFill>
            <a:prstDash val="solid"/>
          </a:ln>
        </p:spPr>
      </p:sp>
      <p:sp>
        <p:nvSpPr>
          <p:cNvPr id="16" name="icon circle"/>
          <p:cNvSpPr/>
          <p:nvPr/>
        </p:nvSpPr>
        <p:spPr>
          <a:xfrm>
            <a:off x="4242816" y="1600200"/>
            <a:ext cx="548640" cy="548640"/>
          </a:xfrm>
          <a:prstGeom prst="ellipse">
            <a:avLst/>
          </a:prstGeom>
          <a:solidFill>
            <a:schemeClr val="accent1"/>
          </a:solidFill>
          <a:ln w="12700">
            <a:solidFill>
              <a:schemeClr val="accent1"/>
            </a:solidFill>
            <a:prstDash val="solid"/>
          </a:ln>
        </p:spPr>
      </p:sp>
      <p:pic>
        <p:nvPicPr>
          <p:cNvPr id="17" name="icon" descr="preencoded.png">    </p:cNvPr>
          <p:cNvPicPr>
            <a:picLocks noChangeAspect="1"/>
          </p:cNvPicPr>
          <p:nvPr/>
        </p:nvPicPr>
        <p:blipFill>
          <a:blip r:embed="rId3"/>
          <a:stretch>
            <a:fillRect/>
          </a:stretch>
        </p:blipFill>
        <p:spPr>
          <a:xfrm>
            <a:off x="4363517" y="1720901"/>
            <a:ext cx="307238" cy="307238"/>
          </a:xfrm>
          <a:prstGeom prst="rect">
            <a:avLst/>
          </a:prstGeom>
        </p:spPr>
      </p:pic>
      <p:sp>
        <p:nvSpPr>
          <p:cNvPr id="18" name="Text 13"/>
          <p:cNvSpPr txBox="1"/>
          <p:nvPr/>
        </p:nvSpPr>
        <p:spPr>
          <a:xfrm>
            <a:off x="3877056" y="2331720"/>
            <a:ext cx="12801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Bookman Old Style" pitchFamily="34" charset="0"/>
                <a:ea typeface="Bookman Old Style" pitchFamily="34" charset="-122"/>
                <a:cs typeface="Bookman Old Style" pitchFamily="34" charset="-120"/>
              </a:rPr>
              <a:t>50 min</a:t>
            </a:r>
            <a:endParaRPr lang="en-US" sz="2200" dirty="0"/>
          </a:p>
        </p:txBody>
      </p:sp>
      <p:sp>
        <p:nvSpPr>
          <p:cNvPr id="19" name="Text 14"/>
          <p:cNvSpPr txBox="1"/>
          <p:nvPr/>
        </p:nvSpPr>
        <p:spPr>
          <a:xfrm>
            <a:off x="3877056" y="2880360"/>
            <a:ext cx="1280160" cy="365760"/>
          </a:xfrm>
          <a:prstGeom prst="rect">
            <a:avLst/>
          </a:prstGeom>
          <a:noFill/>
          <a:ln/>
        </p:spPr>
        <p:txBody>
          <a:bodyPr wrap="square" lIns="0" tIns="0" rIns="0" bIns="0" rtlCol="0" anchor="t"/>
          <a:lstStyle/>
          <a:p>
            <a:pPr algn="ctr" indent="0" marL="0">
              <a:buNone/>
            </a:pPr>
            <a:r>
              <a:rPr lang="en-US" sz="1500" b="1" dirty="0">
                <a:solidFill>
                  <a:schemeClr val="tx1"/>
                </a:solidFill>
              </a:rPr>
              <a:t>Build in pairs</a:t>
            </a:r>
            <a:endParaRPr lang="en-US" sz="1500" dirty="0"/>
          </a:p>
        </p:txBody>
      </p:sp>
      <p:sp>
        <p:nvSpPr>
          <p:cNvPr id="20" name="Text 15"/>
          <p:cNvSpPr txBox="1"/>
          <p:nvPr/>
        </p:nvSpPr>
        <p:spPr>
          <a:xfrm>
            <a:off x="3922776" y="3291840"/>
            <a:ext cx="1188720" cy="822960"/>
          </a:xfrm>
          <a:prstGeom prst="rect">
            <a:avLst/>
          </a:prstGeom>
          <a:noFill/>
          <a:ln/>
        </p:spPr>
        <p:txBody>
          <a:bodyPr wrap="square" lIns="0" tIns="0" rIns="0" bIns="0" rtlCol="0" anchor="t"/>
          <a:lstStyle/>
          <a:p>
            <a:pPr algn="ctr" indent="0" marL="0">
              <a:buNone/>
            </a:pPr>
            <a:r>
              <a:rPr lang="en-US" sz="1200" dirty="0">
                <a:solidFill>
                  <a:schemeClr val="accent5"/>
                </a:solidFill>
              </a:rPr>
              <a:t>AI + data = one dashboard</a:t>
            </a:r>
            <a:endParaRPr lang="en-US" sz="1200" dirty="0"/>
          </a:p>
        </p:txBody>
      </p:sp>
      <p:sp>
        <p:nvSpPr>
          <p:cNvPr id="21" name="agenda step"/>
          <p:cNvSpPr/>
          <p:nvPr/>
        </p:nvSpPr>
        <p:spPr>
          <a:xfrm>
            <a:off x="5449824" y="1325880"/>
            <a:ext cx="1463040" cy="2926080"/>
          </a:xfrm>
          <a:prstGeom prst="roundRect">
            <a:avLst>
              <a:gd name="adj" fmla="val 7500"/>
            </a:avLst>
          </a:prstGeom>
          <a:solidFill>
            <a:schemeClr val="bg2"/>
          </a:solidFill>
          <a:ln w="12700">
            <a:solidFill>
              <a:schemeClr val="bg2"/>
            </a:solidFill>
            <a:prstDash val="solid"/>
          </a:ln>
        </p:spPr>
      </p:sp>
      <p:sp>
        <p:nvSpPr>
          <p:cNvPr id="22" name="icon circle"/>
          <p:cNvSpPr/>
          <p:nvPr/>
        </p:nvSpPr>
        <p:spPr>
          <a:xfrm>
            <a:off x="5907024" y="1600200"/>
            <a:ext cx="548640" cy="548640"/>
          </a:xfrm>
          <a:prstGeom prst="ellipse">
            <a:avLst/>
          </a:prstGeom>
          <a:solidFill>
            <a:schemeClr val="accent1"/>
          </a:solidFill>
          <a:ln w="12700">
            <a:solidFill>
              <a:schemeClr val="accent1"/>
            </a:solidFill>
            <a:prstDash val="solid"/>
          </a:ln>
        </p:spPr>
      </p:sp>
      <p:pic>
        <p:nvPicPr>
          <p:cNvPr id="23" name="icon" descr="preencoded.png">    </p:cNvPr>
          <p:cNvPicPr>
            <a:picLocks noChangeAspect="1"/>
          </p:cNvPicPr>
          <p:nvPr/>
        </p:nvPicPr>
        <p:blipFill>
          <a:blip r:embed="rId4"/>
          <a:stretch>
            <a:fillRect/>
          </a:stretch>
        </p:blipFill>
        <p:spPr>
          <a:xfrm>
            <a:off x="6027725" y="1720901"/>
            <a:ext cx="307238" cy="307238"/>
          </a:xfrm>
          <a:prstGeom prst="rect">
            <a:avLst/>
          </a:prstGeom>
        </p:spPr>
      </p:pic>
      <p:sp>
        <p:nvSpPr>
          <p:cNvPr id="24" name="Text 18"/>
          <p:cNvSpPr txBox="1"/>
          <p:nvPr/>
        </p:nvSpPr>
        <p:spPr>
          <a:xfrm>
            <a:off x="5541264" y="2331720"/>
            <a:ext cx="12801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Bookman Old Style" pitchFamily="34" charset="0"/>
                <a:ea typeface="Bookman Old Style" pitchFamily="34" charset="-122"/>
                <a:cs typeface="Bookman Old Style" pitchFamily="34" charset="-120"/>
              </a:rPr>
              <a:t>15 min</a:t>
            </a:r>
            <a:endParaRPr lang="en-US" sz="2200" dirty="0"/>
          </a:p>
        </p:txBody>
      </p:sp>
      <p:sp>
        <p:nvSpPr>
          <p:cNvPr id="25" name="Text 19"/>
          <p:cNvSpPr txBox="1"/>
          <p:nvPr/>
        </p:nvSpPr>
        <p:spPr>
          <a:xfrm>
            <a:off x="5541264" y="2880360"/>
            <a:ext cx="1280160" cy="365760"/>
          </a:xfrm>
          <a:prstGeom prst="rect">
            <a:avLst/>
          </a:prstGeom>
          <a:noFill/>
          <a:ln/>
        </p:spPr>
        <p:txBody>
          <a:bodyPr wrap="square" lIns="0" tIns="0" rIns="0" bIns="0" rtlCol="0" anchor="t"/>
          <a:lstStyle/>
          <a:p>
            <a:pPr algn="ctr" indent="0" marL="0">
              <a:buNone/>
            </a:pPr>
            <a:r>
              <a:rPr lang="en-US" sz="1500" b="1" dirty="0">
                <a:solidFill>
                  <a:schemeClr val="tx1"/>
                </a:solidFill>
              </a:rPr>
              <a:t>Show &amp; tell</a:t>
            </a:r>
            <a:endParaRPr lang="en-US" sz="1500" dirty="0"/>
          </a:p>
        </p:txBody>
      </p:sp>
      <p:sp>
        <p:nvSpPr>
          <p:cNvPr id="26" name="Text 20"/>
          <p:cNvSpPr txBox="1"/>
          <p:nvPr/>
        </p:nvSpPr>
        <p:spPr>
          <a:xfrm>
            <a:off x="5586984" y="3291840"/>
            <a:ext cx="1188720" cy="822960"/>
          </a:xfrm>
          <a:prstGeom prst="rect">
            <a:avLst/>
          </a:prstGeom>
          <a:noFill/>
          <a:ln/>
        </p:spPr>
        <p:txBody>
          <a:bodyPr wrap="square" lIns="0" tIns="0" rIns="0" bIns="0" rtlCol="0" anchor="t"/>
          <a:lstStyle/>
          <a:p>
            <a:pPr algn="ctr" indent="0" marL="0">
              <a:buNone/>
            </a:pPr>
            <a:r>
              <a:rPr lang="en-US" sz="1200" dirty="0">
                <a:solidFill>
                  <a:schemeClr val="accent5"/>
                </a:solidFill>
              </a:rPr>
              <a:t>3 minutes per pair</a:t>
            </a:r>
            <a:endParaRPr lang="en-US" sz="1200" dirty="0"/>
          </a:p>
        </p:txBody>
      </p:sp>
      <p:sp>
        <p:nvSpPr>
          <p:cNvPr id="27" name="agenda step"/>
          <p:cNvSpPr/>
          <p:nvPr/>
        </p:nvSpPr>
        <p:spPr>
          <a:xfrm>
            <a:off x="7114032" y="1325880"/>
            <a:ext cx="1463040" cy="2926080"/>
          </a:xfrm>
          <a:prstGeom prst="roundRect">
            <a:avLst>
              <a:gd name="adj" fmla="val 7500"/>
            </a:avLst>
          </a:prstGeom>
          <a:solidFill>
            <a:schemeClr val="bg2"/>
          </a:solidFill>
          <a:ln w="12700">
            <a:solidFill>
              <a:schemeClr val="bg2"/>
            </a:solidFill>
            <a:prstDash val="solid"/>
          </a:ln>
        </p:spPr>
      </p:sp>
      <p:sp>
        <p:nvSpPr>
          <p:cNvPr id="28" name="icon circle"/>
          <p:cNvSpPr/>
          <p:nvPr/>
        </p:nvSpPr>
        <p:spPr>
          <a:xfrm>
            <a:off x="7571232" y="1600200"/>
            <a:ext cx="548640" cy="548640"/>
          </a:xfrm>
          <a:prstGeom prst="ellipse">
            <a:avLst/>
          </a:prstGeom>
          <a:solidFill>
            <a:schemeClr val="accent1"/>
          </a:solidFill>
          <a:ln w="12700">
            <a:solidFill>
              <a:schemeClr val="accent1"/>
            </a:solidFill>
            <a:prstDash val="solid"/>
          </a:ln>
        </p:spPr>
      </p:sp>
      <p:pic>
        <p:nvPicPr>
          <p:cNvPr id="29" name="icon" descr="preencoded.png">    </p:cNvPr>
          <p:cNvPicPr>
            <a:picLocks noChangeAspect="1"/>
          </p:cNvPicPr>
          <p:nvPr/>
        </p:nvPicPr>
        <p:blipFill>
          <a:blip r:embed="rId5"/>
          <a:stretch>
            <a:fillRect/>
          </a:stretch>
        </p:blipFill>
        <p:spPr>
          <a:xfrm>
            <a:off x="7691933" y="1720901"/>
            <a:ext cx="307238" cy="307238"/>
          </a:xfrm>
          <a:prstGeom prst="rect">
            <a:avLst/>
          </a:prstGeom>
        </p:spPr>
      </p:pic>
      <p:sp>
        <p:nvSpPr>
          <p:cNvPr id="30" name="Text 23"/>
          <p:cNvSpPr txBox="1"/>
          <p:nvPr/>
        </p:nvSpPr>
        <p:spPr>
          <a:xfrm>
            <a:off x="7205472" y="2331720"/>
            <a:ext cx="1280160" cy="457200"/>
          </a:xfrm>
          <a:prstGeom prst="rect">
            <a:avLst/>
          </a:prstGeom>
          <a:noFill/>
          <a:ln/>
        </p:spPr>
        <p:txBody>
          <a:bodyPr wrap="square" lIns="0" tIns="0" rIns="0" bIns="0" rtlCol="0" anchor="t"/>
          <a:lstStyle/>
          <a:p>
            <a:pPr algn="ctr" indent="0" marL="0">
              <a:buNone/>
            </a:pPr>
            <a:r>
              <a:rPr lang="en-US" sz="2200" b="1" dirty="0">
                <a:solidFill>
                  <a:schemeClr val="tx2"/>
                </a:solidFill>
                <a:latin typeface="Bookman Old Style" pitchFamily="34" charset="0"/>
                <a:ea typeface="Bookman Old Style" pitchFamily="34" charset="-122"/>
                <a:cs typeface="Bookman Old Style" pitchFamily="34" charset="-120"/>
              </a:rPr>
              <a:t>10 min</a:t>
            </a:r>
            <a:endParaRPr lang="en-US" sz="2200" dirty="0"/>
          </a:p>
        </p:txBody>
      </p:sp>
      <p:sp>
        <p:nvSpPr>
          <p:cNvPr id="31" name="Text 24"/>
          <p:cNvSpPr txBox="1"/>
          <p:nvPr/>
        </p:nvSpPr>
        <p:spPr>
          <a:xfrm>
            <a:off x="7205472" y="2880360"/>
            <a:ext cx="1280160" cy="365760"/>
          </a:xfrm>
          <a:prstGeom prst="rect">
            <a:avLst/>
          </a:prstGeom>
          <a:noFill/>
          <a:ln/>
        </p:spPr>
        <p:txBody>
          <a:bodyPr wrap="square" lIns="0" tIns="0" rIns="0" bIns="0" rtlCol="0" anchor="t"/>
          <a:lstStyle/>
          <a:p>
            <a:pPr algn="ctr" indent="0" marL="0">
              <a:buNone/>
            </a:pPr>
            <a:r>
              <a:rPr lang="en-US" sz="1500" b="1" dirty="0">
                <a:solidFill>
                  <a:schemeClr val="tx1"/>
                </a:solidFill>
              </a:rPr>
              <a:t>Reveal</a:t>
            </a:r>
            <a:endParaRPr lang="en-US" sz="1500" dirty="0"/>
          </a:p>
        </p:txBody>
      </p:sp>
      <p:sp>
        <p:nvSpPr>
          <p:cNvPr id="32" name="Text 25"/>
          <p:cNvSpPr txBox="1"/>
          <p:nvPr/>
        </p:nvSpPr>
        <p:spPr>
          <a:xfrm>
            <a:off x="7251192" y="3291840"/>
            <a:ext cx="1188720" cy="822960"/>
          </a:xfrm>
          <a:prstGeom prst="rect">
            <a:avLst/>
          </a:prstGeom>
          <a:noFill/>
          <a:ln/>
        </p:spPr>
        <p:txBody>
          <a:bodyPr wrap="square" lIns="0" tIns="0" rIns="0" bIns="0" rtlCol="0" anchor="t"/>
          <a:lstStyle/>
          <a:p>
            <a:pPr algn="ctr" indent="0" marL="0">
              <a:buNone/>
            </a:pPr>
            <a:r>
              <a:rPr lang="en-US" sz="1200" dirty="0">
                <a:solidFill>
                  <a:schemeClr val="accent5"/>
                </a:solidFill>
              </a:rPr>
              <a:t>Answer key, points, awards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Meet the empire: 8 stands, 2 cities</a:t>
            </a:r>
            <a:endParaRPr lang="en-US" sz="2800" dirty="0"/>
          </a:p>
        </p:txBody>
      </p:sp>
      <p:sp>
        <p:nvSpPr>
          <p:cNvPr id="3" name="Copenhagen card"/>
          <p:cNvSpPr/>
          <p:nvPr/>
        </p:nvSpPr>
        <p:spPr>
          <a:xfrm>
            <a:off x="457200" y="1097280"/>
            <a:ext cx="4023360" cy="3520440"/>
          </a:xfrm>
          <a:prstGeom prst="roundRect">
            <a:avLst>
              <a:gd name="adj" fmla="val 3117"/>
            </a:avLst>
          </a:prstGeom>
          <a:solidFill>
            <a:schemeClr val="bg2"/>
          </a:solidFill>
          <a:ln w="12700">
            <a:solidFill>
              <a:schemeClr val="bg2"/>
            </a:solidFill>
            <a:prstDash val="solid"/>
          </a:ln>
        </p:spPr>
      </p:sp>
      <p:sp>
        <p:nvSpPr>
          <p:cNvPr id="4" name="Danish flag"/>
          <p:cNvSpPr/>
          <p:nvPr/>
        </p:nvSpPr>
        <p:spPr>
          <a:xfrm>
            <a:off x="731520" y="1298448"/>
            <a:ext cx="502920" cy="352044"/>
          </a:xfrm>
          <a:prstGeom prst="rect">
            <a:avLst/>
          </a:prstGeom>
          <a:solidFill>
            <a:srgbClr val="C8102E"/>
          </a:solidFill>
          <a:ln w="12700">
            <a:solidFill>
              <a:srgbClr val="C8102E"/>
            </a:solidFill>
            <a:prstDash val="solid"/>
          </a:ln>
        </p:spPr>
      </p:sp>
      <p:sp>
        <p:nvSpPr>
          <p:cNvPr id="5" name="Shape 3"/>
          <p:cNvSpPr/>
          <p:nvPr/>
        </p:nvSpPr>
        <p:spPr>
          <a:xfrm>
            <a:off x="882396" y="1298448"/>
            <a:ext cx="60350" cy="352044"/>
          </a:xfrm>
          <a:prstGeom prst="rect">
            <a:avLst/>
          </a:prstGeom>
          <a:solidFill>
            <a:srgbClr val="FFFFFF"/>
          </a:solidFill>
          <a:ln w="12700">
            <a:solidFill>
              <a:srgbClr val="FFFFFF"/>
            </a:solidFill>
            <a:prstDash val="solid"/>
          </a:ln>
        </p:spPr>
      </p:sp>
      <p:sp>
        <p:nvSpPr>
          <p:cNvPr id="6" name="Shape 4"/>
          <p:cNvSpPr/>
          <p:nvPr/>
        </p:nvSpPr>
        <p:spPr>
          <a:xfrm>
            <a:off x="731520" y="1449827"/>
            <a:ext cx="502920" cy="49286"/>
          </a:xfrm>
          <a:prstGeom prst="rect">
            <a:avLst/>
          </a:prstGeom>
          <a:solidFill>
            <a:srgbClr val="FFFFFF"/>
          </a:solidFill>
          <a:ln w="12700">
            <a:solidFill>
              <a:srgbClr val="FFFFFF"/>
            </a:solidFill>
            <a:prstDash val="solid"/>
          </a:ln>
        </p:spPr>
      </p:sp>
      <p:sp>
        <p:nvSpPr>
          <p:cNvPr id="7" name="Text 5"/>
          <p:cNvSpPr txBox="1"/>
          <p:nvPr/>
        </p:nvSpPr>
        <p:spPr>
          <a:xfrm>
            <a:off x="1371600" y="1234440"/>
            <a:ext cx="2194560" cy="457200"/>
          </a:xfrm>
          <a:prstGeom prst="rect">
            <a:avLst/>
          </a:prstGeom>
          <a:noFill/>
          <a:ln/>
        </p:spPr>
        <p:txBody>
          <a:bodyPr wrap="square" lIns="0" tIns="0" rIns="0" bIns="0" rtlCol="0" anchor="ctr"/>
          <a:lstStyle/>
          <a:p>
            <a:pPr indent="0" marL="0">
              <a:buNone/>
            </a:pPr>
            <a:r>
              <a:rPr lang="en-US" sz="2000" b="1" dirty="0">
                <a:solidFill>
                  <a:schemeClr val="tx2"/>
                </a:solidFill>
                <a:latin typeface="Bookman Old Style" pitchFamily="34" charset="0"/>
                <a:ea typeface="Bookman Old Style" pitchFamily="34" charset="-122"/>
                <a:cs typeface="Bookman Old Style" pitchFamily="34" charset="-120"/>
              </a:rPr>
              <a:t>Copenhagen</a:t>
            </a:r>
            <a:endParaRPr lang="en-US" sz="2000" dirty="0"/>
          </a:p>
        </p:txBody>
      </p:sp>
      <p:sp>
        <p:nvSpPr>
          <p:cNvPr id="8" name="Text 6"/>
          <p:cNvSpPr txBox="1"/>
          <p:nvPr/>
        </p:nvSpPr>
        <p:spPr>
          <a:xfrm>
            <a:off x="3200400" y="1234440"/>
            <a:ext cx="1097280" cy="457200"/>
          </a:xfrm>
          <a:prstGeom prst="rect">
            <a:avLst/>
          </a:prstGeom>
          <a:noFill/>
          <a:ln/>
        </p:spPr>
        <p:txBody>
          <a:bodyPr wrap="square" lIns="0" tIns="0" rIns="0" bIns="0" rtlCol="0" anchor="ctr"/>
          <a:lstStyle/>
          <a:p>
            <a:pPr algn="r" indent="0" marL="0">
              <a:buNone/>
            </a:pPr>
            <a:r>
              <a:rPr lang="en-US" sz="1100" dirty="0">
                <a:solidFill>
                  <a:schemeClr val="accent5"/>
                </a:solidFill>
              </a:rPr>
              <a:t>paid in DKK</a:t>
            </a:r>
            <a:endParaRPr lang="en-US" sz="1100" dirty="0"/>
          </a:p>
        </p:txBody>
      </p:sp>
      <p:sp>
        <p:nvSpPr>
          <p:cNvPr id="9" name="Text 7"/>
          <p:cNvSpPr txBox="1"/>
          <p:nvPr/>
        </p:nvSpPr>
        <p:spPr>
          <a:xfrm>
            <a:off x="731520" y="1828800"/>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City Hall Square</a:t>
            </a:r>
            <a:pPr indent="0" marL="0">
              <a:buNone/>
            </a:pPr>
            <a:r>
              <a:rPr lang="en-US" sz="1200" dirty="0">
                <a:solidFill>
                  <a:schemeClr val="accent5"/>
                </a:solidFill>
              </a:rPr>
              <a:t>   classic</a:t>
            </a:r>
            <a:endParaRPr lang="en-US" sz="1400" dirty="0"/>
          </a:p>
        </p:txBody>
      </p:sp>
      <p:sp>
        <p:nvSpPr>
          <p:cNvPr id="10" name="Text 8"/>
          <p:cNvSpPr txBox="1"/>
          <p:nvPr/>
        </p:nvSpPr>
        <p:spPr>
          <a:xfrm>
            <a:off x="731520" y="2157984"/>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Norreport Station</a:t>
            </a:r>
            <a:pPr indent="0" marL="0">
              <a:buNone/>
            </a:pPr>
            <a:r>
              <a:rPr lang="en-US" sz="1200" dirty="0">
                <a:solidFill>
                  <a:schemeClr val="accent5"/>
                </a:solidFill>
              </a:rPr>
              <a:t>   commuter · covered</a:t>
            </a:r>
            <a:endParaRPr lang="en-US" sz="1400" dirty="0"/>
          </a:p>
        </p:txBody>
      </p:sp>
      <p:sp>
        <p:nvSpPr>
          <p:cNvPr id="11" name="Text 9"/>
          <p:cNvSpPr txBox="1"/>
          <p:nvPr/>
        </p:nvSpPr>
        <p:spPr>
          <a:xfrm>
            <a:off x="731520" y="2487168"/>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Stadium Gate</a:t>
            </a:r>
            <a:pPr indent="0" marL="0">
              <a:buNone/>
            </a:pPr>
            <a:r>
              <a:rPr lang="en-US" sz="1200" dirty="0">
                <a:solidFill>
                  <a:schemeClr val="accent5"/>
                </a:solidFill>
              </a:rPr>
              <a:t>   stadium</a:t>
            </a:r>
            <a:endParaRPr lang="en-US" sz="1400" dirty="0"/>
          </a:p>
        </p:txBody>
      </p:sp>
      <p:sp>
        <p:nvSpPr>
          <p:cNvPr id="12" name="Text 10"/>
          <p:cNvSpPr txBox="1"/>
          <p:nvPr/>
        </p:nvSpPr>
        <p:spPr>
          <a:xfrm>
            <a:off x="731520" y="2816352"/>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Christianshavn Canal</a:t>
            </a:r>
            <a:pPr indent="0" marL="0">
              <a:buNone/>
            </a:pPr>
            <a:r>
              <a:rPr lang="en-US" sz="1200" dirty="0">
                <a:solidFill>
                  <a:schemeClr val="accent5"/>
                </a:solidFill>
              </a:rPr>
              <a:t>   classic</a:t>
            </a:r>
            <a:endParaRPr lang="en-US" sz="1400" dirty="0"/>
          </a:p>
        </p:txBody>
      </p:sp>
      <p:sp>
        <p:nvSpPr>
          <p:cNvPr id="13" name="local hero"/>
          <p:cNvSpPr/>
          <p:nvPr/>
        </p:nvSpPr>
        <p:spPr>
          <a:xfrm>
            <a:off x="640080" y="3246120"/>
            <a:ext cx="3657600" cy="1188720"/>
          </a:xfrm>
          <a:prstGeom prst="roundRect">
            <a:avLst>
              <a:gd name="adj" fmla="val 7692"/>
            </a:avLst>
          </a:prstGeom>
          <a:solidFill>
            <a:schemeClr val="bg1"/>
          </a:solidFill>
          <a:ln w="19050">
            <a:solidFill>
              <a:schemeClr val="accent2"/>
            </a:solidFill>
            <a:prstDash val="solid"/>
          </a:ln>
        </p:spPr>
      </p:sp>
      <p:sp>
        <p:nvSpPr>
          <p:cNvPr id="14" name="Text 12"/>
          <p:cNvSpPr txBox="1"/>
          <p:nvPr/>
        </p:nvSpPr>
        <p:spPr>
          <a:xfrm>
            <a:off x="777240" y="3337560"/>
            <a:ext cx="2468880" cy="320040"/>
          </a:xfrm>
          <a:prstGeom prst="rect">
            <a:avLst/>
          </a:prstGeom>
          <a:noFill/>
          <a:ln/>
        </p:spPr>
        <p:txBody>
          <a:bodyPr wrap="square" lIns="0" tIns="0" rIns="0" bIns="0" rtlCol="0" anchor="t"/>
          <a:lstStyle/>
          <a:p>
            <a:pPr indent="0" marL="0">
              <a:buNone/>
            </a:pPr>
            <a:r>
              <a:rPr lang="en-US" sz="1400" b="1" dirty="0">
                <a:solidFill>
                  <a:schemeClr val="accent1"/>
                </a:solidFill>
              </a:rPr>
              <a:t>Local hero: Rød pølse</a:t>
            </a:r>
            <a:endParaRPr lang="en-US" sz="1400" dirty="0"/>
          </a:p>
        </p:txBody>
      </p:sp>
      <p:sp>
        <p:nvSpPr>
          <p:cNvPr id="15" name="Text 13"/>
          <p:cNvSpPr txBox="1"/>
          <p:nvPr/>
        </p:nvSpPr>
        <p:spPr>
          <a:xfrm>
            <a:off x="3200400" y="3337560"/>
            <a:ext cx="960120" cy="320040"/>
          </a:xfrm>
          <a:prstGeom prst="rect">
            <a:avLst/>
          </a:prstGeom>
          <a:noFill/>
          <a:ln/>
        </p:spPr>
        <p:txBody>
          <a:bodyPr wrap="square" lIns="0" tIns="0" rIns="0" bIns="0" rtlCol="0" anchor="t"/>
          <a:lstStyle/>
          <a:p>
            <a:pPr algn="r" indent="0" marL="0">
              <a:buNone/>
            </a:pPr>
            <a:r>
              <a:rPr lang="en-US" sz="1400" b="1" dirty="0">
                <a:solidFill>
                  <a:schemeClr val="tx1"/>
                </a:solidFill>
              </a:rPr>
              <a:t>38 DKK</a:t>
            </a:r>
            <a:endParaRPr lang="en-US" sz="1400" dirty="0"/>
          </a:p>
        </p:txBody>
      </p:sp>
      <p:sp>
        <p:nvSpPr>
          <p:cNvPr id="16" name="Text 14"/>
          <p:cNvSpPr txBox="1"/>
          <p:nvPr/>
        </p:nvSpPr>
        <p:spPr>
          <a:xfrm>
            <a:off x="777240" y="3685032"/>
            <a:ext cx="3383280" cy="685800"/>
          </a:xfrm>
          <a:prstGeom prst="rect">
            <a:avLst/>
          </a:prstGeom>
          <a:noFill/>
          <a:ln/>
        </p:spPr>
        <p:txBody>
          <a:bodyPr wrap="square" lIns="0" tIns="0" rIns="0" bIns="0" rtlCol="0" anchor="t"/>
          <a:lstStyle/>
          <a:p>
            <a:pPr indent="0" marL="0">
              <a:buNone/>
            </a:pPr>
            <a:r>
              <a:rPr lang="en-US" sz="1200" dirty="0">
                <a:solidFill>
                  <a:schemeClr val="tx1"/>
                </a:solidFill>
              </a:rPr>
              <a:t>Boiled, bright red, served with bread on the side. Why is it red? Nobody knows.</a:t>
            </a:r>
            <a:endParaRPr lang="en-US" sz="1200" dirty="0"/>
          </a:p>
        </p:txBody>
      </p:sp>
      <p:sp>
        <p:nvSpPr>
          <p:cNvPr id="17" name="Warsaw card"/>
          <p:cNvSpPr/>
          <p:nvPr/>
        </p:nvSpPr>
        <p:spPr>
          <a:xfrm>
            <a:off x="4663440" y="1097280"/>
            <a:ext cx="4023360" cy="3520440"/>
          </a:xfrm>
          <a:prstGeom prst="roundRect">
            <a:avLst>
              <a:gd name="adj" fmla="val 3117"/>
            </a:avLst>
          </a:prstGeom>
          <a:solidFill>
            <a:schemeClr val="bg2"/>
          </a:solidFill>
          <a:ln w="12700">
            <a:solidFill>
              <a:schemeClr val="bg2"/>
            </a:solidFill>
            <a:prstDash val="solid"/>
          </a:ln>
        </p:spPr>
      </p:sp>
      <p:sp>
        <p:nvSpPr>
          <p:cNvPr id="18" name="Polish flag"/>
          <p:cNvSpPr/>
          <p:nvPr/>
        </p:nvSpPr>
        <p:spPr>
          <a:xfrm>
            <a:off x="4937760" y="1298448"/>
            <a:ext cx="502920" cy="176022"/>
          </a:xfrm>
          <a:prstGeom prst="rect">
            <a:avLst/>
          </a:prstGeom>
          <a:solidFill>
            <a:srgbClr val="FFFFFF"/>
          </a:solidFill>
          <a:ln w="9525">
            <a:solidFill>
              <a:srgbClr val="D0D0D0"/>
            </a:solidFill>
            <a:prstDash val="solid"/>
          </a:ln>
        </p:spPr>
      </p:sp>
      <p:sp>
        <p:nvSpPr>
          <p:cNvPr id="19" name="Shape 17"/>
          <p:cNvSpPr/>
          <p:nvPr/>
        </p:nvSpPr>
        <p:spPr>
          <a:xfrm>
            <a:off x="4937760" y="1474470"/>
            <a:ext cx="502920" cy="176022"/>
          </a:xfrm>
          <a:prstGeom prst="rect">
            <a:avLst/>
          </a:prstGeom>
          <a:solidFill>
            <a:srgbClr val="DC143C"/>
          </a:solidFill>
          <a:ln w="12700">
            <a:solidFill>
              <a:srgbClr val="DC143C"/>
            </a:solidFill>
            <a:prstDash val="solid"/>
          </a:ln>
        </p:spPr>
      </p:sp>
      <p:sp>
        <p:nvSpPr>
          <p:cNvPr id="20" name="Text 18"/>
          <p:cNvSpPr txBox="1"/>
          <p:nvPr/>
        </p:nvSpPr>
        <p:spPr>
          <a:xfrm>
            <a:off x="5577840" y="1234440"/>
            <a:ext cx="2194560" cy="457200"/>
          </a:xfrm>
          <a:prstGeom prst="rect">
            <a:avLst/>
          </a:prstGeom>
          <a:noFill/>
          <a:ln/>
        </p:spPr>
        <p:txBody>
          <a:bodyPr wrap="square" lIns="0" tIns="0" rIns="0" bIns="0" rtlCol="0" anchor="ctr"/>
          <a:lstStyle/>
          <a:p>
            <a:pPr indent="0" marL="0">
              <a:buNone/>
            </a:pPr>
            <a:r>
              <a:rPr lang="en-US" sz="2000" b="1" dirty="0">
                <a:solidFill>
                  <a:schemeClr val="tx2"/>
                </a:solidFill>
                <a:latin typeface="Bookman Old Style" pitchFamily="34" charset="0"/>
                <a:ea typeface="Bookman Old Style" pitchFamily="34" charset="-122"/>
                <a:cs typeface="Bookman Old Style" pitchFamily="34" charset="-120"/>
              </a:rPr>
              <a:t>Warsaw</a:t>
            </a:r>
            <a:endParaRPr lang="en-US" sz="2000" dirty="0"/>
          </a:p>
        </p:txBody>
      </p:sp>
      <p:sp>
        <p:nvSpPr>
          <p:cNvPr id="21" name="Text 19"/>
          <p:cNvSpPr txBox="1"/>
          <p:nvPr/>
        </p:nvSpPr>
        <p:spPr>
          <a:xfrm>
            <a:off x="7406640" y="1234440"/>
            <a:ext cx="1097280" cy="457200"/>
          </a:xfrm>
          <a:prstGeom prst="rect">
            <a:avLst/>
          </a:prstGeom>
          <a:noFill/>
          <a:ln/>
        </p:spPr>
        <p:txBody>
          <a:bodyPr wrap="square" lIns="0" tIns="0" rIns="0" bIns="0" rtlCol="0" anchor="ctr"/>
          <a:lstStyle/>
          <a:p>
            <a:pPr algn="r" indent="0" marL="0">
              <a:buNone/>
            </a:pPr>
            <a:r>
              <a:rPr lang="en-US" sz="1100" dirty="0">
                <a:solidFill>
                  <a:schemeClr val="accent5"/>
                </a:solidFill>
              </a:rPr>
              <a:t>paid in PLN</a:t>
            </a:r>
            <a:endParaRPr lang="en-US" sz="1100" dirty="0"/>
          </a:p>
        </p:txBody>
      </p:sp>
      <p:sp>
        <p:nvSpPr>
          <p:cNvPr id="22" name="Text 20"/>
          <p:cNvSpPr txBox="1"/>
          <p:nvPr/>
        </p:nvSpPr>
        <p:spPr>
          <a:xfrm>
            <a:off x="4937760" y="1828800"/>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Old Town Square</a:t>
            </a:r>
            <a:pPr indent="0" marL="0">
              <a:buNone/>
            </a:pPr>
            <a:r>
              <a:rPr lang="en-US" sz="1200" dirty="0">
                <a:solidFill>
                  <a:schemeClr val="accent5"/>
                </a:solidFill>
              </a:rPr>
              <a:t>   classic</a:t>
            </a:r>
            <a:endParaRPr lang="en-US" sz="1400" dirty="0"/>
          </a:p>
        </p:txBody>
      </p:sp>
      <p:sp>
        <p:nvSpPr>
          <p:cNvPr id="23" name="Text 21"/>
          <p:cNvSpPr txBox="1"/>
          <p:nvPr/>
        </p:nvSpPr>
        <p:spPr>
          <a:xfrm>
            <a:off x="4937760" y="2157984"/>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Central Station</a:t>
            </a:r>
            <a:pPr indent="0" marL="0">
              <a:buNone/>
            </a:pPr>
            <a:r>
              <a:rPr lang="en-US" sz="1200" dirty="0">
                <a:solidFill>
                  <a:schemeClr val="accent5"/>
                </a:solidFill>
              </a:rPr>
              <a:t>   commuter · covered</a:t>
            </a:r>
            <a:endParaRPr lang="en-US" sz="1400" dirty="0"/>
          </a:p>
        </p:txBody>
      </p:sp>
      <p:sp>
        <p:nvSpPr>
          <p:cNvPr id="24" name="Text 22"/>
          <p:cNvSpPr txBox="1"/>
          <p:nvPr/>
        </p:nvSpPr>
        <p:spPr>
          <a:xfrm>
            <a:off x="4937760" y="2487168"/>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National Stadium</a:t>
            </a:r>
            <a:pPr indent="0" marL="0">
              <a:buNone/>
            </a:pPr>
            <a:r>
              <a:rPr lang="en-US" sz="1200" dirty="0">
                <a:solidFill>
                  <a:schemeClr val="accent5"/>
                </a:solidFill>
              </a:rPr>
              <a:t>   stadium</a:t>
            </a:r>
            <a:endParaRPr lang="en-US" sz="1400" dirty="0"/>
          </a:p>
        </p:txBody>
      </p:sp>
      <p:sp>
        <p:nvSpPr>
          <p:cNvPr id="25" name="Text 23"/>
          <p:cNvSpPr txBox="1"/>
          <p:nvPr/>
        </p:nvSpPr>
        <p:spPr>
          <a:xfrm>
            <a:off x="4937760" y="2816352"/>
            <a:ext cx="3566160" cy="292608"/>
          </a:xfrm>
          <a:prstGeom prst="rect">
            <a:avLst/>
          </a:prstGeom>
          <a:noFill/>
          <a:ln/>
        </p:spPr>
        <p:txBody>
          <a:bodyPr wrap="square" lIns="0" tIns="0" rIns="0" bIns="0" rtlCol="0" anchor="ctr"/>
          <a:lstStyle/>
          <a:p>
            <a:pPr indent="0" marL="0">
              <a:buNone/>
            </a:pPr>
            <a:r>
              <a:rPr lang="en-US" sz="1400" b="1" dirty="0">
                <a:solidFill>
                  <a:schemeClr val="tx1"/>
                </a:solidFill>
              </a:rPr>
              <a:t>Vistula Riverside</a:t>
            </a:r>
            <a:pPr indent="0" marL="0">
              <a:buNone/>
            </a:pPr>
            <a:r>
              <a:rPr lang="en-US" sz="1200" dirty="0">
                <a:solidFill>
                  <a:schemeClr val="accent5"/>
                </a:solidFill>
              </a:rPr>
              <a:t>   seasonal</a:t>
            </a:r>
            <a:endParaRPr lang="en-US" sz="1400" dirty="0"/>
          </a:p>
        </p:txBody>
      </p:sp>
      <p:sp>
        <p:nvSpPr>
          <p:cNvPr id="26" name="local hero"/>
          <p:cNvSpPr/>
          <p:nvPr/>
        </p:nvSpPr>
        <p:spPr>
          <a:xfrm>
            <a:off x="4846320" y="3246120"/>
            <a:ext cx="3657600" cy="1188720"/>
          </a:xfrm>
          <a:prstGeom prst="roundRect">
            <a:avLst>
              <a:gd name="adj" fmla="val 7692"/>
            </a:avLst>
          </a:prstGeom>
          <a:solidFill>
            <a:schemeClr val="bg1"/>
          </a:solidFill>
          <a:ln w="19050">
            <a:solidFill>
              <a:schemeClr val="accent2"/>
            </a:solidFill>
            <a:prstDash val="solid"/>
          </a:ln>
        </p:spPr>
      </p:sp>
      <p:sp>
        <p:nvSpPr>
          <p:cNvPr id="27" name="Text 25"/>
          <p:cNvSpPr txBox="1"/>
          <p:nvPr/>
        </p:nvSpPr>
        <p:spPr>
          <a:xfrm>
            <a:off x="4983480" y="3337560"/>
            <a:ext cx="2468880" cy="320040"/>
          </a:xfrm>
          <a:prstGeom prst="rect">
            <a:avLst/>
          </a:prstGeom>
          <a:noFill/>
          <a:ln/>
        </p:spPr>
        <p:txBody>
          <a:bodyPr wrap="square" lIns="0" tIns="0" rIns="0" bIns="0" rtlCol="0" anchor="t"/>
          <a:lstStyle/>
          <a:p>
            <a:pPr indent="0" marL="0">
              <a:buNone/>
            </a:pPr>
            <a:r>
              <a:rPr lang="en-US" sz="1400" b="1" dirty="0">
                <a:solidFill>
                  <a:schemeClr val="accent1"/>
                </a:solidFill>
              </a:rPr>
              <a:t>Local hero: Zapiekanka</a:t>
            </a:r>
            <a:endParaRPr lang="en-US" sz="1400" dirty="0"/>
          </a:p>
        </p:txBody>
      </p:sp>
      <p:sp>
        <p:nvSpPr>
          <p:cNvPr id="28" name="Text 26"/>
          <p:cNvSpPr txBox="1"/>
          <p:nvPr/>
        </p:nvSpPr>
        <p:spPr>
          <a:xfrm>
            <a:off x="7406640" y="3337560"/>
            <a:ext cx="960120" cy="320040"/>
          </a:xfrm>
          <a:prstGeom prst="rect">
            <a:avLst/>
          </a:prstGeom>
          <a:noFill/>
          <a:ln/>
        </p:spPr>
        <p:txBody>
          <a:bodyPr wrap="square" lIns="0" tIns="0" rIns="0" bIns="0" rtlCol="0" anchor="t"/>
          <a:lstStyle/>
          <a:p>
            <a:pPr algn="r" indent="0" marL="0">
              <a:buNone/>
            </a:pPr>
            <a:r>
              <a:rPr lang="en-US" sz="1400" b="1" dirty="0">
                <a:solidFill>
                  <a:schemeClr val="tx1"/>
                </a:solidFill>
              </a:rPr>
              <a:t>18 PLN</a:t>
            </a:r>
            <a:endParaRPr lang="en-US" sz="1400" dirty="0"/>
          </a:p>
        </p:txBody>
      </p:sp>
      <p:sp>
        <p:nvSpPr>
          <p:cNvPr id="29" name="Text 27"/>
          <p:cNvSpPr txBox="1"/>
          <p:nvPr/>
        </p:nvSpPr>
        <p:spPr>
          <a:xfrm>
            <a:off x="4983480" y="3685032"/>
            <a:ext cx="3383280" cy="685800"/>
          </a:xfrm>
          <a:prstGeom prst="rect">
            <a:avLst/>
          </a:prstGeom>
          <a:noFill/>
          <a:ln/>
        </p:spPr>
        <p:txBody>
          <a:bodyPr wrap="square" lIns="0" tIns="0" rIns="0" bIns="0" rtlCol="0" anchor="t"/>
          <a:lstStyle/>
          <a:p>
            <a:pPr indent="0" marL="0">
              <a:buNone/>
            </a:pPr>
            <a:r>
              <a:rPr lang="en-US" sz="1200" dirty="0">
                <a:solidFill>
                  <a:schemeClr val="tx1"/>
                </a:solidFill>
              </a:rPr>
              <a:t>Toasted open baguette with mushrooms, cheese and ketchup. A late-night legend.</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The CEO has three questions</a:t>
            </a:r>
            <a:endParaRPr lang="en-US" sz="2800" dirty="0"/>
          </a:p>
        </p:txBody>
      </p:sp>
      <p:sp>
        <p:nvSpPr>
          <p:cNvPr id="3" name="question card"/>
          <p:cNvSpPr/>
          <p:nvPr/>
        </p:nvSpPr>
        <p:spPr>
          <a:xfrm>
            <a:off x="457200" y="1280160"/>
            <a:ext cx="2606040" cy="3017520"/>
          </a:xfrm>
          <a:prstGeom prst="roundRect">
            <a:avLst>
              <a:gd name="adj" fmla="val 4211"/>
            </a:avLst>
          </a:prstGeom>
          <a:solidFill>
            <a:schemeClr val="bg2"/>
          </a:solidFill>
          <a:ln w="12700">
            <a:solidFill>
              <a:schemeClr val="bg2"/>
            </a:solidFill>
            <a:prstDash val="solid"/>
          </a:ln>
        </p:spPr>
      </p:sp>
      <p:sp>
        <p:nvSpPr>
          <p:cNvPr id="4" name="Text 2"/>
          <p:cNvSpPr txBox="1"/>
          <p:nvPr/>
        </p:nvSpPr>
        <p:spPr>
          <a:xfrm>
            <a:off x="731520" y="1463040"/>
            <a:ext cx="1097280" cy="1097280"/>
          </a:xfrm>
          <a:prstGeom prst="rect">
            <a:avLst/>
          </a:prstGeom>
          <a:noFill/>
          <a:ln/>
        </p:spPr>
        <p:txBody>
          <a:bodyPr wrap="square" lIns="0" tIns="0" rIns="0" bIns="0" rtlCol="0" anchor="t"/>
          <a:lstStyle/>
          <a:p>
            <a:pPr indent="0" marL="0">
              <a:buNone/>
            </a:pPr>
            <a:r>
              <a:rPr lang="en-US" sz="6600" b="1" dirty="0">
                <a:solidFill>
                  <a:schemeClr val="accent1"/>
                </a:solidFill>
                <a:latin typeface="Bookman Old Style" pitchFamily="34" charset="0"/>
                <a:ea typeface="Bookman Old Style" pitchFamily="34" charset="-122"/>
                <a:cs typeface="Bookman Old Style" pitchFamily="34" charset="-120"/>
              </a:rPr>
              <a:t>1</a:t>
            </a:r>
            <a:endParaRPr lang="en-US" sz="6600" dirty="0"/>
          </a:p>
        </p:txBody>
      </p:sp>
      <p:sp>
        <p:nvSpPr>
          <p:cNvPr id="5" name="Text 3"/>
          <p:cNvSpPr txBox="1"/>
          <p:nvPr/>
        </p:nvSpPr>
        <p:spPr>
          <a:xfrm>
            <a:off x="731520" y="2697480"/>
            <a:ext cx="2103120" cy="1371600"/>
          </a:xfrm>
          <a:prstGeom prst="rect">
            <a:avLst/>
          </a:prstGeom>
          <a:noFill/>
          <a:ln/>
        </p:spPr>
        <p:txBody>
          <a:bodyPr wrap="square" lIns="0" tIns="0" rIns="0" bIns="0" rtlCol="0" anchor="t"/>
          <a:lstStyle/>
          <a:p>
            <a:pPr indent="0" marL="0">
              <a:buNone/>
            </a:pPr>
            <a:r>
              <a:rPr lang="en-US" sz="2000" b="1" dirty="0">
                <a:solidFill>
                  <a:schemeClr val="tx1"/>
                </a:solidFill>
              </a:rPr>
              <a:t>How is the business really doing?</a:t>
            </a:r>
            <a:endParaRPr lang="en-US" sz="2000" dirty="0"/>
          </a:p>
        </p:txBody>
      </p:sp>
      <p:sp>
        <p:nvSpPr>
          <p:cNvPr id="6" name="question card"/>
          <p:cNvSpPr/>
          <p:nvPr/>
        </p:nvSpPr>
        <p:spPr>
          <a:xfrm>
            <a:off x="3246120" y="1280160"/>
            <a:ext cx="2606040" cy="3017520"/>
          </a:xfrm>
          <a:prstGeom prst="roundRect">
            <a:avLst>
              <a:gd name="adj" fmla="val 4211"/>
            </a:avLst>
          </a:prstGeom>
          <a:solidFill>
            <a:schemeClr val="tx2"/>
          </a:solidFill>
          <a:ln w="12700">
            <a:solidFill>
              <a:schemeClr val="tx2"/>
            </a:solidFill>
            <a:prstDash val="solid"/>
          </a:ln>
        </p:spPr>
      </p:sp>
      <p:sp>
        <p:nvSpPr>
          <p:cNvPr id="7" name="Text 5"/>
          <p:cNvSpPr txBox="1"/>
          <p:nvPr/>
        </p:nvSpPr>
        <p:spPr>
          <a:xfrm>
            <a:off x="3520440" y="1463040"/>
            <a:ext cx="1097280" cy="1097280"/>
          </a:xfrm>
          <a:prstGeom prst="rect">
            <a:avLst/>
          </a:prstGeom>
          <a:noFill/>
          <a:ln/>
        </p:spPr>
        <p:txBody>
          <a:bodyPr wrap="square" lIns="0" tIns="0" rIns="0" bIns="0" rtlCol="0" anchor="t"/>
          <a:lstStyle/>
          <a:p>
            <a:pPr indent="0" marL="0">
              <a:buNone/>
            </a:pPr>
            <a:r>
              <a:rPr lang="en-US" sz="6600" b="1" dirty="0">
                <a:solidFill>
                  <a:schemeClr val="accent2"/>
                </a:solidFill>
                <a:latin typeface="Bookman Old Style" pitchFamily="34" charset="0"/>
                <a:ea typeface="Bookman Old Style" pitchFamily="34" charset="-122"/>
                <a:cs typeface="Bookman Old Style" pitchFamily="34" charset="-120"/>
              </a:rPr>
              <a:t>2</a:t>
            </a:r>
            <a:endParaRPr lang="en-US" sz="6600" dirty="0"/>
          </a:p>
        </p:txBody>
      </p:sp>
      <p:sp>
        <p:nvSpPr>
          <p:cNvPr id="8" name="Text 6"/>
          <p:cNvSpPr txBox="1"/>
          <p:nvPr/>
        </p:nvSpPr>
        <p:spPr>
          <a:xfrm>
            <a:off x="3520440" y="2697480"/>
            <a:ext cx="2103120" cy="1371600"/>
          </a:xfrm>
          <a:prstGeom prst="rect">
            <a:avLst/>
          </a:prstGeom>
          <a:noFill/>
          <a:ln/>
        </p:spPr>
        <p:txBody>
          <a:bodyPr wrap="square" lIns="0" tIns="0" rIns="0" bIns="0" rtlCol="0" anchor="t"/>
          <a:lstStyle/>
          <a:p>
            <a:pPr indent="0" marL="0">
              <a:buNone/>
            </a:pPr>
            <a:r>
              <a:rPr lang="en-US" sz="2000" b="1" dirty="0">
                <a:solidFill>
                  <a:schemeClr val="bg1"/>
                </a:solidFill>
              </a:rPr>
              <a:t>What should we be worried about?</a:t>
            </a:r>
            <a:endParaRPr lang="en-US" sz="2000" dirty="0"/>
          </a:p>
        </p:txBody>
      </p:sp>
      <p:sp>
        <p:nvSpPr>
          <p:cNvPr id="9" name="question card"/>
          <p:cNvSpPr/>
          <p:nvPr/>
        </p:nvSpPr>
        <p:spPr>
          <a:xfrm>
            <a:off x="6035040" y="1280160"/>
            <a:ext cx="2606040" cy="3017520"/>
          </a:xfrm>
          <a:prstGeom prst="roundRect">
            <a:avLst>
              <a:gd name="adj" fmla="val 4211"/>
            </a:avLst>
          </a:prstGeom>
          <a:solidFill>
            <a:schemeClr val="bg2"/>
          </a:solidFill>
          <a:ln w="12700">
            <a:solidFill>
              <a:schemeClr val="bg2"/>
            </a:solidFill>
            <a:prstDash val="solid"/>
          </a:ln>
        </p:spPr>
      </p:sp>
      <p:sp>
        <p:nvSpPr>
          <p:cNvPr id="10" name="Text 8"/>
          <p:cNvSpPr txBox="1"/>
          <p:nvPr/>
        </p:nvSpPr>
        <p:spPr>
          <a:xfrm>
            <a:off x="6309360" y="1463040"/>
            <a:ext cx="1097280" cy="1097280"/>
          </a:xfrm>
          <a:prstGeom prst="rect">
            <a:avLst/>
          </a:prstGeom>
          <a:noFill/>
          <a:ln/>
        </p:spPr>
        <p:txBody>
          <a:bodyPr wrap="square" lIns="0" tIns="0" rIns="0" bIns="0" rtlCol="0" anchor="t"/>
          <a:lstStyle/>
          <a:p>
            <a:pPr indent="0" marL="0">
              <a:buNone/>
            </a:pPr>
            <a:r>
              <a:rPr lang="en-US" sz="6600" b="1" dirty="0">
                <a:solidFill>
                  <a:schemeClr val="accent1"/>
                </a:solidFill>
                <a:latin typeface="Bookman Old Style" pitchFamily="34" charset="0"/>
                <a:ea typeface="Bookman Old Style" pitchFamily="34" charset="-122"/>
                <a:cs typeface="Bookman Old Style" pitchFamily="34" charset="-120"/>
              </a:rPr>
              <a:t>3</a:t>
            </a:r>
            <a:endParaRPr lang="en-US" sz="6600" dirty="0"/>
          </a:p>
        </p:txBody>
      </p:sp>
      <p:sp>
        <p:nvSpPr>
          <p:cNvPr id="11" name="Text 9"/>
          <p:cNvSpPr txBox="1"/>
          <p:nvPr/>
        </p:nvSpPr>
        <p:spPr>
          <a:xfrm>
            <a:off x="6309360" y="2697480"/>
            <a:ext cx="2103120" cy="1371600"/>
          </a:xfrm>
          <a:prstGeom prst="rect">
            <a:avLst/>
          </a:prstGeom>
          <a:noFill/>
          <a:ln/>
        </p:spPr>
        <p:txBody>
          <a:bodyPr wrap="square" lIns="0" tIns="0" rIns="0" bIns="0" rtlCol="0" anchor="t"/>
          <a:lstStyle/>
          <a:p>
            <a:pPr indent="0" marL="0">
              <a:buNone/>
            </a:pPr>
            <a:r>
              <a:rPr lang="en-US" sz="2000" b="1" dirty="0">
                <a:solidFill>
                  <a:schemeClr val="tx1"/>
                </a:solidFill>
              </a:rPr>
              <a:t>What should we do more of?</a:t>
            </a:r>
            <a:endParaRPr lang="en-US" sz="2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5669280" cy="914400"/>
          </a:xfrm>
          <a:prstGeom prst="rect">
            <a:avLst/>
          </a:prstGeom>
          <a:noFill/>
          <a:ln/>
        </p:spPr>
        <p:txBody>
          <a:bodyPr wrap="square" lIns="0" tIns="0" rIns="0" bIns="0" rtlCol="0" anchor="b"/>
          <a:lstStyle/>
          <a:p>
            <a:pPr algn="l" indent="0" marL="0">
              <a:buNone/>
            </a:pPr>
            <a:r>
              <a:rPr lang="en-US" sz="4000" b="1" dirty="0">
                <a:solidFill>
                  <a:schemeClr val="bg1"/>
                </a:solidFill>
              </a:rPr>
              <a:t>What's in the bun?</a:t>
            </a:r>
            <a:endParaRPr lang="en-US" sz="4000" dirty="0"/>
          </a:p>
        </p:txBody>
      </p:sp>
      <p:sp>
        <p:nvSpPr>
          <p:cNvPr id="3" name="Text 0"/>
          <p:cNvSpPr/>
          <p:nvPr>
            <p:ph idx="101" type="body" hasCustomPrompt="1"/>
          </p:nvPr>
        </p:nvSpPr>
        <p:spPr>
          <a:xfrm>
            <a:off x="548640" y="2697480"/>
            <a:ext cx="5669280" cy="548640"/>
          </a:xfrm>
          <a:prstGeom prst="rect">
            <a:avLst/>
          </a:prstGeom>
          <a:noFill/>
          <a:ln/>
        </p:spPr>
        <p:txBody>
          <a:bodyPr wrap="square" lIns="0" tIns="0" rIns="0" bIns="0" rtlCol="0" anchor="t"/>
          <a:lstStyle/>
          <a:p>
            <a:pPr indent="0" marL="0">
              <a:buNone/>
            </a:pPr>
            <a:r>
              <a:rPr lang="en-US" sz="2000" i="1" dirty="0">
                <a:solidFill>
                  <a:schemeClr val="accent2"/>
                </a:solidFill>
              </a:rPr>
              <a:t>Smacznego!  ·  Velbekomme!</a:t>
            </a:r>
            <a:endParaRPr lang="en-US" sz="2000" dirty="0"/>
          </a:p>
        </p:txBody>
      </p:sp>
      <p:pic>
        <p:nvPicPr>
          <p:cNvPr id="4" name="hot dog" descr="preencoded.png">    </p:cNvPr>
          <p:cNvPicPr>
            <a:picLocks noChangeAspect="1"/>
          </p:cNvPicPr>
          <p:nvPr/>
        </p:nvPicPr>
        <p:blipFill>
          <a:blip r:embed="rId1"/>
          <a:stretch>
            <a:fillRect/>
          </a:stretch>
        </p:blipFill>
        <p:spPr>
          <a:xfrm>
            <a:off x="6400800" y="1371600"/>
            <a:ext cx="2194560" cy="21945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Eight tables, one story</a:t>
            </a:r>
            <a:endParaRPr lang="en-US" sz="2800" dirty="0"/>
          </a:p>
        </p:txBody>
      </p:sp>
      <p:sp>
        <p:nvSpPr>
          <p:cNvPr id="3" name="link stands"/>
          <p:cNvSpPr/>
          <p:nvPr/>
        </p:nvSpPr>
        <p:spPr>
          <a:xfrm>
            <a:off x="1554480" y="1536192"/>
            <a:ext cx="3017520" cy="1412748"/>
          </a:xfrm>
          <a:prstGeom prst="line">
            <a:avLst/>
          </a:prstGeom>
          <a:noFill/>
          <a:ln w="19050">
            <a:solidFill>
              <a:schemeClr val="accent3"/>
            </a:solidFill>
            <a:prstDash val="dash"/>
          </a:ln>
        </p:spPr>
      </p:sp>
      <p:sp>
        <p:nvSpPr>
          <p:cNvPr id="4" name="link menu"/>
          <p:cNvSpPr/>
          <p:nvPr/>
        </p:nvSpPr>
        <p:spPr>
          <a:xfrm>
            <a:off x="4572000" y="1399032"/>
            <a:ext cx="914" cy="1549908"/>
          </a:xfrm>
          <a:prstGeom prst="line">
            <a:avLst/>
          </a:prstGeom>
          <a:noFill/>
          <a:ln w="19050">
            <a:solidFill>
              <a:schemeClr val="accent3"/>
            </a:solidFill>
            <a:prstDash val="dash"/>
          </a:ln>
        </p:spPr>
      </p:sp>
      <p:sp>
        <p:nvSpPr>
          <p:cNvPr id="5" name="link weather"/>
          <p:cNvSpPr/>
          <p:nvPr/>
        </p:nvSpPr>
        <p:spPr>
          <a:xfrm flipH="1">
            <a:off x="4572000" y="1536192"/>
            <a:ext cx="3017520" cy="1412748"/>
          </a:xfrm>
          <a:prstGeom prst="line">
            <a:avLst/>
          </a:prstGeom>
          <a:noFill/>
          <a:ln w="19050">
            <a:solidFill>
              <a:schemeClr val="accent3"/>
            </a:solidFill>
            <a:prstDash val="dash"/>
          </a:ln>
        </p:spPr>
      </p:sp>
      <p:sp>
        <p:nvSpPr>
          <p:cNvPr id="6" name="link events"/>
          <p:cNvSpPr/>
          <p:nvPr/>
        </p:nvSpPr>
        <p:spPr>
          <a:xfrm>
            <a:off x="4572000" y="2948940"/>
            <a:ext cx="3200400" cy="4572"/>
          </a:xfrm>
          <a:prstGeom prst="line">
            <a:avLst/>
          </a:prstGeom>
          <a:noFill/>
          <a:ln w="19050">
            <a:solidFill>
              <a:schemeClr val="accent3"/>
            </a:solidFill>
            <a:prstDash val="dash"/>
          </a:ln>
        </p:spPr>
      </p:sp>
      <p:sp>
        <p:nvSpPr>
          <p:cNvPr id="7" name="link fx_rates"/>
          <p:cNvSpPr/>
          <p:nvPr/>
        </p:nvSpPr>
        <p:spPr>
          <a:xfrm>
            <a:off x="4572000" y="2948940"/>
            <a:ext cx="3017520" cy="1284732"/>
          </a:xfrm>
          <a:prstGeom prst="line">
            <a:avLst/>
          </a:prstGeom>
          <a:noFill/>
          <a:ln w="19050">
            <a:solidFill>
              <a:schemeClr val="accent3"/>
            </a:solidFill>
            <a:prstDash val="dash"/>
          </a:ln>
        </p:spPr>
      </p:sp>
      <p:sp>
        <p:nvSpPr>
          <p:cNvPr id="8" name="link supplier_prices"/>
          <p:cNvSpPr/>
          <p:nvPr/>
        </p:nvSpPr>
        <p:spPr>
          <a:xfrm flipH="1">
            <a:off x="4572000" y="2948940"/>
            <a:ext cx="914" cy="1376172"/>
          </a:xfrm>
          <a:prstGeom prst="line">
            <a:avLst/>
          </a:prstGeom>
          <a:noFill/>
          <a:ln w="19050">
            <a:solidFill>
              <a:schemeClr val="accent3"/>
            </a:solidFill>
            <a:prstDash val="dash"/>
          </a:ln>
        </p:spPr>
      </p:sp>
      <p:sp>
        <p:nvSpPr>
          <p:cNvPr id="9" name="link manager_logbook"/>
          <p:cNvSpPr/>
          <p:nvPr/>
        </p:nvSpPr>
        <p:spPr>
          <a:xfrm flipH="1">
            <a:off x="1554480" y="2948940"/>
            <a:ext cx="3017520" cy="1284732"/>
          </a:xfrm>
          <a:prstGeom prst="line">
            <a:avLst/>
          </a:prstGeom>
          <a:noFill/>
          <a:ln w="19050">
            <a:solidFill>
              <a:schemeClr val="accent3"/>
            </a:solidFill>
            <a:prstDash val="dash"/>
          </a:ln>
        </p:spPr>
      </p:sp>
      <p:sp>
        <p:nvSpPr>
          <p:cNvPr id="10" name="sales node"/>
          <p:cNvSpPr/>
          <p:nvPr/>
        </p:nvSpPr>
        <p:spPr>
          <a:xfrm>
            <a:off x="3566160" y="2514600"/>
            <a:ext cx="2011680" cy="868680"/>
          </a:xfrm>
          <a:prstGeom prst="roundRect">
            <a:avLst>
              <a:gd name="adj" fmla="val 12632"/>
            </a:avLst>
          </a:prstGeom>
          <a:solidFill>
            <a:schemeClr val="accent1"/>
          </a:solidFill>
          <a:ln w="12700">
            <a:solidFill>
              <a:schemeClr val="accent1"/>
            </a:solidFill>
            <a:prstDash val="solid"/>
          </a:ln>
        </p:spPr>
      </p:sp>
      <p:sp>
        <p:nvSpPr>
          <p:cNvPr id="11" name="Text 9"/>
          <p:cNvSpPr txBox="1"/>
          <p:nvPr/>
        </p:nvSpPr>
        <p:spPr>
          <a:xfrm>
            <a:off x="3566160" y="2514600"/>
            <a:ext cx="2011680" cy="868680"/>
          </a:xfrm>
          <a:prstGeom prst="rect">
            <a:avLst/>
          </a:prstGeom>
          <a:noFill/>
          <a:ln/>
        </p:spPr>
        <p:txBody>
          <a:bodyPr wrap="square" lIns="0" tIns="0" rIns="0" bIns="0" rtlCol="0" anchor="ctr"/>
          <a:lstStyle/>
          <a:p>
            <a:pPr algn="ctr" indent="0" marL="0">
              <a:buNone/>
            </a:pPr>
            <a:r>
              <a:rPr lang="en-US" sz="1800" b="1" dirty="0">
                <a:solidFill>
                  <a:schemeClr val="bg1"/>
                </a:solidFill>
              </a:rPr>
              <a:t>sales</a:t>
            </a:r>
            <a:endParaRPr lang="en-US" sz="1400" dirty="0"/>
          </a:p>
          <a:p>
            <a:pPr algn="ctr" indent="0" marL="0">
              <a:buNone/>
            </a:pPr>
            <a:r>
              <a:rPr lang="en-US" sz="1200" dirty="0">
                <a:solidFill>
                  <a:schemeClr val="bg1"/>
                </a:solidFill>
              </a:rPr>
              <a:t>41,226 rows</a:t>
            </a:r>
            <a:endParaRPr lang="en-US" sz="1400" dirty="0"/>
          </a:p>
        </p:txBody>
      </p:sp>
      <p:sp>
        <p:nvSpPr>
          <p:cNvPr id="12" name="stands node"/>
          <p:cNvSpPr/>
          <p:nvPr/>
        </p:nvSpPr>
        <p:spPr>
          <a:xfrm>
            <a:off x="548640" y="1188720"/>
            <a:ext cx="2011680" cy="694944"/>
          </a:xfrm>
          <a:prstGeom prst="roundRect">
            <a:avLst>
              <a:gd name="adj" fmla="val 13158"/>
            </a:avLst>
          </a:prstGeom>
          <a:solidFill>
            <a:schemeClr val="bg2"/>
          </a:solidFill>
          <a:ln w="12700">
            <a:solidFill>
              <a:schemeClr val="accent2"/>
            </a:solidFill>
            <a:prstDash val="solid"/>
          </a:ln>
        </p:spPr>
      </p:sp>
      <p:sp>
        <p:nvSpPr>
          <p:cNvPr id="13" name="Text 11"/>
          <p:cNvSpPr txBox="1"/>
          <p:nvPr/>
        </p:nvSpPr>
        <p:spPr>
          <a:xfrm>
            <a:off x="640080" y="118872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stands</a:t>
            </a:r>
            <a:endParaRPr lang="en-US" sz="1400" dirty="0"/>
          </a:p>
          <a:p>
            <a:pPr algn="ctr" indent="0" marL="0">
              <a:buNone/>
            </a:pPr>
            <a:r>
              <a:rPr lang="en-US" sz="1000" dirty="0">
                <a:solidFill>
                  <a:schemeClr val="accent5"/>
                </a:solidFill>
              </a:rPr>
              <a:t>8 rows  ·  joins on stand_id</a:t>
            </a:r>
            <a:endParaRPr lang="en-US" sz="1400" dirty="0"/>
          </a:p>
        </p:txBody>
      </p:sp>
      <p:sp>
        <p:nvSpPr>
          <p:cNvPr id="14" name="menu node"/>
          <p:cNvSpPr/>
          <p:nvPr/>
        </p:nvSpPr>
        <p:spPr>
          <a:xfrm>
            <a:off x="3566160" y="1051560"/>
            <a:ext cx="2011680" cy="694944"/>
          </a:xfrm>
          <a:prstGeom prst="roundRect">
            <a:avLst>
              <a:gd name="adj" fmla="val 13158"/>
            </a:avLst>
          </a:prstGeom>
          <a:solidFill>
            <a:schemeClr val="bg2"/>
          </a:solidFill>
          <a:ln w="12700">
            <a:solidFill>
              <a:schemeClr val="accent2"/>
            </a:solidFill>
            <a:prstDash val="solid"/>
          </a:ln>
        </p:spPr>
      </p:sp>
      <p:sp>
        <p:nvSpPr>
          <p:cNvPr id="15" name="Text 13"/>
          <p:cNvSpPr txBox="1"/>
          <p:nvPr/>
        </p:nvSpPr>
        <p:spPr>
          <a:xfrm>
            <a:off x="3657600" y="105156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menu</a:t>
            </a:r>
            <a:endParaRPr lang="en-US" sz="1400" dirty="0"/>
          </a:p>
          <a:p>
            <a:pPr algn="ctr" indent="0" marL="0">
              <a:buNone/>
            </a:pPr>
            <a:r>
              <a:rPr lang="en-US" sz="1000" dirty="0">
                <a:solidFill>
                  <a:schemeClr val="accent5"/>
                </a:solidFill>
              </a:rPr>
              <a:t>9 items  ·  joins on item_id</a:t>
            </a:r>
            <a:endParaRPr lang="en-US" sz="1400" dirty="0"/>
          </a:p>
        </p:txBody>
      </p:sp>
      <p:sp>
        <p:nvSpPr>
          <p:cNvPr id="16" name="weather node"/>
          <p:cNvSpPr/>
          <p:nvPr/>
        </p:nvSpPr>
        <p:spPr>
          <a:xfrm>
            <a:off x="6583680" y="1188720"/>
            <a:ext cx="2011680" cy="694944"/>
          </a:xfrm>
          <a:prstGeom prst="roundRect">
            <a:avLst>
              <a:gd name="adj" fmla="val 13158"/>
            </a:avLst>
          </a:prstGeom>
          <a:solidFill>
            <a:schemeClr val="bg2"/>
          </a:solidFill>
          <a:ln w="12700">
            <a:solidFill>
              <a:schemeClr val="accent2"/>
            </a:solidFill>
            <a:prstDash val="solid"/>
          </a:ln>
        </p:spPr>
      </p:sp>
      <p:sp>
        <p:nvSpPr>
          <p:cNvPr id="17" name="Text 15"/>
          <p:cNvSpPr txBox="1"/>
          <p:nvPr/>
        </p:nvSpPr>
        <p:spPr>
          <a:xfrm>
            <a:off x="6675120" y="118872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weather</a:t>
            </a:r>
            <a:endParaRPr lang="en-US" sz="1400" dirty="0"/>
          </a:p>
          <a:p>
            <a:pPr algn="ctr" indent="0" marL="0">
              <a:buNone/>
            </a:pPr>
            <a:r>
              <a:rPr lang="en-US" sz="1000" dirty="0">
                <a:solidFill>
                  <a:schemeClr val="accent5"/>
                </a:solidFill>
              </a:rPr>
              <a:t>1,462 days  ·  joins on date + city</a:t>
            </a:r>
            <a:endParaRPr lang="en-US" sz="1400" dirty="0"/>
          </a:p>
        </p:txBody>
      </p:sp>
      <p:sp>
        <p:nvSpPr>
          <p:cNvPr id="18" name="events node"/>
          <p:cNvSpPr/>
          <p:nvPr/>
        </p:nvSpPr>
        <p:spPr>
          <a:xfrm>
            <a:off x="6766560" y="2606040"/>
            <a:ext cx="2011680" cy="694944"/>
          </a:xfrm>
          <a:prstGeom prst="roundRect">
            <a:avLst>
              <a:gd name="adj" fmla="val 13158"/>
            </a:avLst>
          </a:prstGeom>
          <a:solidFill>
            <a:schemeClr val="bg2"/>
          </a:solidFill>
          <a:ln w="12700">
            <a:solidFill>
              <a:schemeClr val="accent2"/>
            </a:solidFill>
            <a:prstDash val="solid"/>
          </a:ln>
        </p:spPr>
      </p:sp>
      <p:sp>
        <p:nvSpPr>
          <p:cNvPr id="19" name="Text 17"/>
          <p:cNvSpPr txBox="1"/>
          <p:nvPr/>
        </p:nvSpPr>
        <p:spPr>
          <a:xfrm>
            <a:off x="6858000" y="260604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events</a:t>
            </a:r>
            <a:endParaRPr lang="en-US" sz="1400" dirty="0"/>
          </a:p>
          <a:p>
            <a:pPr algn="ctr" indent="0" marL="0">
              <a:buNone/>
            </a:pPr>
            <a:r>
              <a:rPr lang="en-US" sz="1000" dirty="0">
                <a:solidFill>
                  <a:schemeClr val="accent5"/>
                </a:solidFill>
              </a:rPr>
              <a:t>223 events  ·  joins on date + city</a:t>
            </a:r>
            <a:endParaRPr lang="en-US" sz="1400" dirty="0"/>
          </a:p>
        </p:txBody>
      </p:sp>
      <p:sp>
        <p:nvSpPr>
          <p:cNvPr id="20" name="fx_rates node"/>
          <p:cNvSpPr/>
          <p:nvPr/>
        </p:nvSpPr>
        <p:spPr>
          <a:xfrm>
            <a:off x="6583680" y="3886200"/>
            <a:ext cx="2011680" cy="694944"/>
          </a:xfrm>
          <a:prstGeom prst="roundRect">
            <a:avLst>
              <a:gd name="adj" fmla="val 13158"/>
            </a:avLst>
          </a:prstGeom>
          <a:solidFill>
            <a:schemeClr val="bg2"/>
          </a:solidFill>
          <a:ln w="12700">
            <a:solidFill>
              <a:schemeClr val="accent2"/>
            </a:solidFill>
            <a:prstDash val="solid"/>
          </a:ln>
        </p:spPr>
      </p:sp>
      <p:sp>
        <p:nvSpPr>
          <p:cNvPr id="21" name="Text 19"/>
          <p:cNvSpPr txBox="1"/>
          <p:nvPr/>
        </p:nvSpPr>
        <p:spPr>
          <a:xfrm>
            <a:off x="6675120" y="388620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fx_rates</a:t>
            </a:r>
            <a:endParaRPr lang="en-US" sz="1400" dirty="0"/>
          </a:p>
          <a:p>
            <a:pPr algn="ctr" indent="0" marL="0">
              <a:buNone/>
            </a:pPr>
            <a:r>
              <a:rPr lang="en-US" sz="1000" dirty="0">
                <a:solidFill>
                  <a:schemeClr val="accent5"/>
                </a:solidFill>
              </a:rPr>
              <a:t>731 days  ·  joins on date</a:t>
            </a:r>
            <a:endParaRPr lang="en-US" sz="1400" dirty="0"/>
          </a:p>
        </p:txBody>
      </p:sp>
      <p:sp>
        <p:nvSpPr>
          <p:cNvPr id="22" name="supplier_prices node"/>
          <p:cNvSpPr/>
          <p:nvPr/>
        </p:nvSpPr>
        <p:spPr>
          <a:xfrm>
            <a:off x="3566160" y="3977640"/>
            <a:ext cx="2011680" cy="694944"/>
          </a:xfrm>
          <a:prstGeom prst="roundRect">
            <a:avLst>
              <a:gd name="adj" fmla="val 13158"/>
            </a:avLst>
          </a:prstGeom>
          <a:solidFill>
            <a:schemeClr val="bg2"/>
          </a:solidFill>
          <a:ln w="12700">
            <a:solidFill>
              <a:schemeClr val="accent2"/>
            </a:solidFill>
            <a:prstDash val="solid"/>
          </a:ln>
        </p:spPr>
      </p:sp>
      <p:sp>
        <p:nvSpPr>
          <p:cNvPr id="23" name="Text 21"/>
          <p:cNvSpPr txBox="1"/>
          <p:nvPr/>
        </p:nvSpPr>
        <p:spPr>
          <a:xfrm>
            <a:off x="3657600" y="397764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supplier_prices</a:t>
            </a:r>
            <a:endParaRPr lang="en-US" sz="1400" dirty="0"/>
          </a:p>
          <a:p>
            <a:pPr algn="ctr" indent="0" marL="0">
              <a:buNone/>
            </a:pPr>
            <a:r>
              <a:rPr lang="en-US" sz="1000" dirty="0">
                <a:solidFill>
                  <a:schemeClr val="accent5"/>
                </a:solidFill>
              </a:rPr>
              <a:t>2,730 rows  ·  joins on week + city</a:t>
            </a:r>
            <a:endParaRPr lang="en-US" sz="1400" dirty="0"/>
          </a:p>
        </p:txBody>
      </p:sp>
      <p:sp>
        <p:nvSpPr>
          <p:cNvPr id="24" name="manager_logbook node"/>
          <p:cNvSpPr/>
          <p:nvPr/>
        </p:nvSpPr>
        <p:spPr>
          <a:xfrm>
            <a:off x="548640" y="3886200"/>
            <a:ext cx="2011680" cy="694944"/>
          </a:xfrm>
          <a:prstGeom prst="roundRect">
            <a:avLst>
              <a:gd name="adj" fmla="val 13158"/>
            </a:avLst>
          </a:prstGeom>
          <a:solidFill>
            <a:schemeClr val="bg2"/>
          </a:solidFill>
          <a:ln w="12700">
            <a:solidFill>
              <a:schemeClr val="accent2"/>
            </a:solidFill>
            <a:prstDash val="solid"/>
          </a:ln>
        </p:spPr>
      </p:sp>
      <p:sp>
        <p:nvSpPr>
          <p:cNvPr id="25" name="Text 23"/>
          <p:cNvSpPr txBox="1"/>
          <p:nvPr/>
        </p:nvSpPr>
        <p:spPr>
          <a:xfrm>
            <a:off x="640080" y="3886200"/>
            <a:ext cx="1828800" cy="694944"/>
          </a:xfrm>
          <a:prstGeom prst="rect">
            <a:avLst/>
          </a:prstGeom>
          <a:noFill/>
          <a:ln/>
        </p:spPr>
        <p:txBody>
          <a:bodyPr wrap="square" lIns="0" tIns="0" rIns="0" bIns="0" rtlCol="0" anchor="ctr"/>
          <a:lstStyle/>
          <a:p>
            <a:pPr algn="ctr" indent="0" marL="0">
              <a:buNone/>
            </a:pPr>
            <a:r>
              <a:rPr lang="en-US" sz="1300" b="1" dirty="0">
                <a:solidFill>
                  <a:schemeClr val="tx1"/>
                </a:solidFill>
              </a:rPr>
              <a:t>manager_logbook</a:t>
            </a:r>
            <a:endParaRPr lang="en-US" sz="1400" dirty="0"/>
          </a:p>
          <a:p>
            <a:pPr algn="ctr" indent="0" marL="0">
              <a:buNone/>
            </a:pPr>
            <a:r>
              <a:rPr lang="en-US" sz="1000" dirty="0">
                <a:solidFill>
                  <a:schemeClr val="accent5"/>
                </a:solidFill>
              </a:rPr>
              <a:t>3,240 notes  ·  joins on date + stand_id</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What a row actually looks like</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914400"/>
        </p:xfrm>
        <a:graphic>
          <a:graphicData uri="http://schemas.openxmlformats.org/drawingml/2006/table">
            <a:tbl>
              <a:tblPr/>
              <a:tblGrid>
                <a:gridCol w="1097280"/>
                <a:gridCol w="960120"/>
                <a:gridCol w="868680"/>
                <a:gridCol w="1097280"/>
                <a:gridCol w="914400"/>
                <a:gridCol w="1325880"/>
                <a:gridCol w="914400"/>
                <a:gridCol w="1051560"/>
              </a:tblGrid>
              <a:tr h="310896">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date</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stand_id</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item_id</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units_sold</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revenue</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cost_of_goods</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currency</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latin typeface="Courier New" pitchFamily="34" charset="0"/>
                          <a:ea typeface="Courier New" pitchFamily="34" charset="-122"/>
                          <a:cs typeface="Courier New" pitchFamily="34" charset="-120"/>
                        </a:rPr>
                        <a:t>card_share</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2025-06-14</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M01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98</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4410.0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1214.08</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DKK</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0.53</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2025-06-14</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C2</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M01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57</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2565.0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706.15</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DKK</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0.72</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2025-06-14</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W1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M01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130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2080.0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924.18</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PLN</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0.59</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2025-06-14</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W2</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M01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73</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1168.0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518.96</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PLN</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0.55</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FFF"/>
                    </a:solidFill>
                  </a:tcPr>
                </a:tc>
              </a:tr>
              <a:tr h="310896">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2025-06-14</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W3</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M01</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8</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128.0</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56.87</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PLN</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100" dirty="0">
                          <a:solidFill>
                            <a:schemeClr val="tx1"/>
                          </a:solidFill>
                          <a:latin typeface="Courier New" pitchFamily="34" charset="0"/>
                          <a:ea typeface="Courier New" pitchFamily="34" charset="-122"/>
                          <a:cs typeface="Courier New" pitchFamily="34" charset="-120"/>
                        </a:rPr>
                        <a:t>0.75</a:t>
                      </a:r>
                      <a:endParaRPr lang="en-US" sz="1100" dirty="0">
                        <a:latin typeface="Courier New" charset="0"/>
                        <a:ea typeface="Courier New" charset="0"/>
                        <a:cs typeface="Courier New" charset="0"/>
                      </a:endParaRPr>
                    </a:p>
                  </a:txBody>
                  <a:tcPr marL="45720" marR="4572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bl>
          </a:graphicData>
        </a:graphic>
      </p:graphicFrame>
      <p:sp>
        <p:nvSpPr>
          <p:cNvPr id="4" name="callout"/>
          <p:cNvSpPr/>
          <p:nvPr/>
        </p:nvSpPr>
        <p:spPr>
          <a:xfrm>
            <a:off x="457200" y="3246120"/>
            <a:ext cx="2606040" cy="1143000"/>
          </a:xfrm>
          <a:prstGeom prst="roundRect">
            <a:avLst>
              <a:gd name="adj" fmla="val 9600"/>
            </a:avLst>
          </a:prstGeom>
          <a:solidFill>
            <a:schemeClr val="bg2"/>
          </a:solidFill>
          <a:ln w="12700">
            <a:solidFill>
              <a:schemeClr val="bg2"/>
            </a:solidFill>
            <a:prstDash val="solid"/>
          </a:ln>
        </p:spPr>
      </p:sp>
      <p:sp>
        <p:nvSpPr>
          <p:cNvPr id="5" name="Text 2"/>
          <p:cNvSpPr txBox="1"/>
          <p:nvPr/>
        </p:nvSpPr>
        <p:spPr>
          <a:xfrm>
            <a:off x="685800" y="3364992"/>
            <a:ext cx="2194560"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One row</a:t>
            </a:r>
            <a:endParaRPr lang="en-US" sz="1600" dirty="0"/>
          </a:p>
        </p:txBody>
      </p:sp>
      <p:sp>
        <p:nvSpPr>
          <p:cNvPr id="6" name="Text 3"/>
          <p:cNvSpPr txBox="1"/>
          <p:nvPr/>
        </p:nvSpPr>
        <p:spPr>
          <a:xfrm>
            <a:off x="685800" y="3749040"/>
            <a:ext cx="2194560" cy="548640"/>
          </a:xfrm>
          <a:prstGeom prst="rect">
            <a:avLst/>
          </a:prstGeom>
          <a:noFill/>
          <a:ln/>
        </p:spPr>
        <p:txBody>
          <a:bodyPr wrap="square" lIns="0" tIns="0" rIns="0" bIns="0" rtlCol="0" anchor="t"/>
          <a:lstStyle/>
          <a:p>
            <a:pPr indent="0" marL="0">
              <a:buNone/>
            </a:pPr>
            <a:r>
              <a:rPr lang="en-US" sz="1300" dirty="0">
                <a:solidFill>
                  <a:schemeClr val="tx1"/>
                </a:solidFill>
              </a:rPr>
              <a:t>= one stand × one item × one day</a:t>
            </a:r>
            <a:endParaRPr lang="en-US" sz="1300" dirty="0"/>
          </a:p>
        </p:txBody>
      </p:sp>
      <p:sp>
        <p:nvSpPr>
          <p:cNvPr id="7" name="callout"/>
          <p:cNvSpPr/>
          <p:nvPr/>
        </p:nvSpPr>
        <p:spPr>
          <a:xfrm>
            <a:off x="3246120" y="3246120"/>
            <a:ext cx="2606040" cy="1143000"/>
          </a:xfrm>
          <a:prstGeom prst="roundRect">
            <a:avLst>
              <a:gd name="adj" fmla="val 9600"/>
            </a:avLst>
          </a:prstGeom>
          <a:solidFill>
            <a:schemeClr val="bg2"/>
          </a:solidFill>
          <a:ln w="12700">
            <a:solidFill>
              <a:schemeClr val="bg2"/>
            </a:solidFill>
            <a:prstDash val="solid"/>
          </a:ln>
        </p:spPr>
      </p:sp>
      <p:sp>
        <p:nvSpPr>
          <p:cNvPr id="8" name="Text 5"/>
          <p:cNvSpPr txBox="1"/>
          <p:nvPr/>
        </p:nvSpPr>
        <p:spPr>
          <a:xfrm>
            <a:off x="3474720" y="3364992"/>
            <a:ext cx="2194560"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revenue</a:t>
            </a:r>
            <a:endParaRPr lang="en-US" sz="1600" dirty="0"/>
          </a:p>
        </p:txBody>
      </p:sp>
      <p:sp>
        <p:nvSpPr>
          <p:cNvPr id="9" name="Text 6"/>
          <p:cNvSpPr txBox="1"/>
          <p:nvPr/>
        </p:nvSpPr>
        <p:spPr>
          <a:xfrm>
            <a:off x="3474720" y="3749040"/>
            <a:ext cx="2194560" cy="548640"/>
          </a:xfrm>
          <a:prstGeom prst="rect">
            <a:avLst/>
          </a:prstGeom>
          <a:noFill/>
          <a:ln/>
        </p:spPr>
        <p:txBody>
          <a:bodyPr wrap="square" lIns="0" tIns="0" rIns="0" bIns="0" rtlCol="0" anchor="t"/>
          <a:lstStyle/>
          <a:p>
            <a:pPr indent="0" marL="0">
              <a:buNone/>
            </a:pPr>
            <a:r>
              <a:rPr lang="en-US" sz="1300" dirty="0">
                <a:solidFill>
                  <a:schemeClr val="tx1"/>
                </a:solidFill>
              </a:rPr>
              <a:t>is in the stand's local currency</a:t>
            </a:r>
            <a:endParaRPr lang="en-US" sz="1300" dirty="0"/>
          </a:p>
        </p:txBody>
      </p:sp>
      <p:sp>
        <p:nvSpPr>
          <p:cNvPr id="10" name="callout"/>
          <p:cNvSpPr/>
          <p:nvPr/>
        </p:nvSpPr>
        <p:spPr>
          <a:xfrm>
            <a:off x="6035040" y="3246120"/>
            <a:ext cx="2606040" cy="1143000"/>
          </a:xfrm>
          <a:prstGeom prst="roundRect">
            <a:avLst>
              <a:gd name="adj" fmla="val 9600"/>
            </a:avLst>
          </a:prstGeom>
          <a:solidFill>
            <a:schemeClr val="bg2"/>
          </a:solidFill>
          <a:ln w="12700">
            <a:solidFill>
              <a:schemeClr val="bg2"/>
            </a:solidFill>
            <a:prstDash val="solid"/>
          </a:ln>
        </p:spPr>
      </p:sp>
      <p:sp>
        <p:nvSpPr>
          <p:cNvPr id="11" name="Text 8"/>
          <p:cNvSpPr txBox="1"/>
          <p:nvPr/>
        </p:nvSpPr>
        <p:spPr>
          <a:xfrm>
            <a:off x="6263640" y="3364992"/>
            <a:ext cx="2194560" cy="36576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card_share</a:t>
            </a:r>
            <a:endParaRPr lang="en-US" sz="1600" dirty="0"/>
          </a:p>
        </p:txBody>
      </p:sp>
      <p:sp>
        <p:nvSpPr>
          <p:cNvPr id="12" name="Text 9"/>
          <p:cNvSpPr txBox="1"/>
          <p:nvPr/>
        </p:nvSpPr>
        <p:spPr>
          <a:xfrm>
            <a:off x="6263640" y="3749040"/>
            <a:ext cx="2194560" cy="548640"/>
          </a:xfrm>
          <a:prstGeom prst="rect">
            <a:avLst/>
          </a:prstGeom>
          <a:noFill/>
          <a:ln/>
        </p:spPr>
        <p:txBody>
          <a:bodyPr wrap="square" lIns="0" tIns="0" rIns="0" bIns="0" rtlCol="0" anchor="t"/>
          <a:lstStyle/>
          <a:p>
            <a:pPr indent="0" marL="0">
              <a:buNone/>
            </a:pPr>
            <a:r>
              <a:rPr lang="en-US" sz="1300" dirty="0">
                <a:solidFill>
                  <a:schemeClr val="tx1"/>
                </a:solidFill>
              </a:rPr>
              <a:t>= share of units paid by card, the rest is cash</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Too much to eat with your bare hands</a:t>
            </a:r>
            <a:endParaRPr lang="en-US" sz="2800" dirty="0"/>
          </a:p>
        </p:txBody>
      </p:sp>
      <p:sp>
        <p:nvSpPr>
          <p:cNvPr id="3" name="stat card"/>
          <p:cNvSpPr/>
          <p:nvPr/>
        </p:nvSpPr>
        <p:spPr>
          <a:xfrm>
            <a:off x="457200" y="1097280"/>
            <a:ext cx="4023360" cy="1554480"/>
          </a:xfrm>
          <a:prstGeom prst="roundRect">
            <a:avLst>
              <a:gd name="adj" fmla="val 7059"/>
            </a:avLst>
          </a:prstGeom>
          <a:solidFill>
            <a:schemeClr val="bg2"/>
          </a:solidFill>
          <a:ln w="12700">
            <a:solidFill>
              <a:schemeClr val="bg2"/>
            </a:solidFill>
            <a:prstDash val="solid"/>
          </a:ln>
        </p:spPr>
      </p:sp>
      <p:sp>
        <p:nvSpPr>
          <p:cNvPr id="4" name="Text 2"/>
          <p:cNvSpPr txBox="1"/>
          <p:nvPr/>
        </p:nvSpPr>
        <p:spPr>
          <a:xfrm>
            <a:off x="731520" y="1280160"/>
            <a:ext cx="347472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41,226</a:t>
            </a:r>
            <a:endParaRPr lang="en-US" sz="4400" dirty="0"/>
          </a:p>
        </p:txBody>
      </p:sp>
      <p:sp>
        <p:nvSpPr>
          <p:cNvPr id="5" name="Text 3"/>
          <p:cNvSpPr txBox="1"/>
          <p:nvPr/>
        </p:nvSpPr>
        <p:spPr>
          <a:xfrm>
            <a:off x="731520" y="2103120"/>
            <a:ext cx="3474720" cy="365760"/>
          </a:xfrm>
          <a:prstGeom prst="rect">
            <a:avLst/>
          </a:prstGeom>
          <a:noFill/>
          <a:ln/>
        </p:spPr>
        <p:txBody>
          <a:bodyPr wrap="square" lIns="0" tIns="0" rIns="0" bIns="0" rtlCol="0" anchor="t"/>
          <a:lstStyle/>
          <a:p>
            <a:pPr indent="0" marL="0">
              <a:buNone/>
            </a:pPr>
            <a:r>
              <a:rPr lang="en-US" sz="1500" dirty="0">
                <a:solidFill>
                  <a:schemeClr val="tx1"/>
                </a:solidFill>
              </a:rPr>
              <a:t>sales rows</a:t>
            </a:r>
            <a:endParaRPr lang="en-US" sz="1500" dirty="0"/>
          </a:p>
        </p:txBody>
      </p:sp>
      <p:sp>
        <p:nvSpPr>
          <p:cNvPr id="6" name="stat card"/>
          <p:cNvSpPr/>
          <p:nvPr/>
        </p:nvSpPr>
        <p:spPr>
          <a:xfrm>
            <a:off x="4663440" y="1097280"/>
            <a:ext cx="4023360" cy="1554480"/>
          </a:xfrm>
          <a:prstGeom prst="roundRect">
            <a:avLst>
              <a:gd name="adj" fmla="val 7059"/>
            </a:avLst>
          </a:prstGeom>
          <a:solidFill>
            <a:schemeClr val="bg2"/>
          </a:solidFill>
          <a:ln w="12700">
            <a:solidFill>
              <a:schemeClr val="bg2"/>
            </a:solidFill>
            <a:prstDash val="solid"/>
          </a:ln>
        </p:spPr>
      </p:sp>
      <p:sp>
        <p:nvSpPr>
          <p:cNvPr id="7" name="Text 5"/>
          <p:cNvSpPr txBox="1"/>
          <p:nvPr/>
        </p:nvSpPr>
        <p:spPr>
          <a:xfrm>
            <a:off x="4937760" y="1280160"/>
            <a:ext cx="347472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3,240</a:t>
            </a:r>
            <a:endParaRPr lang="en-US" sz="4400" dirty="0"/>
          </a:p>
        </p:txBody>
      </p:sp>
      <p:sp>
        <p:nvSpPr>
          <p:cNvPr id="8" name="Text 6"/>
          <p:cNvSpPr txBox="1"/>
          <p:nvPr/>
        </p:nvSpPr>
        <p:spPr>
          <a:xfrm>
            <a:off x="4937760" y="2103120"/>
            <a:ext cx="3474720" cy="365760"/>
          </a:xfrm>
          <a:prstGeom prst="rect">
            <a:avLst/>
          </a:prstGeom>
          <a:noFill/>
          <a:ln/>
        </p:spPr>
        <p:txBody>
          <a:bodyPr wrap="square" lIns="0" tIns="0" rIns="0" bIns="0" rtlCol="0" anchor="t"/>
          <a:lstStyle/>
          <a:p>
            <a:pPr indent="0" marL="0">
              <a:buNone/>
            </a:pPr>
            <a:r>
              <a:rPr lang="en-US" sz="1500" dirty="0">
                <a:solidFill>
                  <a:schemeClr val="tx1"/>
                </a:solidFill>
              </a:rPr>
              <a:t>handwritten-style notes</a:t>
            </a:r>
            <a:endParaRPr lang="en-US" sz="1500" dirty="0"/>
          </a:p>
        </p:txBody>
      </p:sp>
      <p:sp>
        <p:nvSpPr>
          <p:cNvPr id="9" name="stat card"/>
          <p:cNvSpPr/>
          <p:nvPr/>
        </p:nvSpPr>
        <p:spPr>
          <a:xfrm>
            <a:off x="457200" y="2834640"/>
            <a:ext cx="4023360" cy="1554480"/>
          </a:xfrm>
          <a:prstGeom prst="roundRect">
            <a:avLst>
              <a:gd name="adj" fmla="val 7059"/>
            </a:avLst>
          </a:prstGeom>
          <a:solidFill>
            <a:schemeClr val="bg2"/>
          </a:solidFill>
          <a:ln w="12700">
            <a:solidFill>
              <a:schemeClr val="bg2"/>
            </a:solidFill>
            <a:prstDash val="solid"/>
          </a:ln>
        </p:spPr>
      </p:sp>
      <p:sp>
        <p:nvSpPr>
          <p:cNvPr id="10" name="Text 8"/>
          <p:cNvSpPr txBox="1"/>
          <p:nvPr/>
        </p:nvSpPr>
        <p:spPr>
          <a:xfrm>
            <a:off x="731520" y="3017520"/>
            <a:ext cx="347472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731</a:t>
            </a:r>
            <a:endParaRPr lang="en-US" sz="4400" dirty="0"/>
          </a:p>
        </p:txBody>
      </p:sp>
      <p:sp>
        <p:nvSpPr>
          <p:cNvPr id="11" name="Text 9"/>
          <p:cNvSpPr txBox="1"/>
          <p:nvPr/>
        </p:nvSpPr>
        <p:spPr>
          <a:xfrm>
            <a:off x="731520" y="3840480"/>
            <a:ext cx="3474720" cy="365760"/>
          </a:xfrm>
          <a:prstGeom prst="rect">
            <a:avLst/>
          </a:prstGeom>
          <a:noFill/>
          <a:ln/>
        </p:spPr>
        <p:txBody>
          <a:bodyPr wrap="square" lIns="0" tIns="0" rIns="0" bIns="0" rtlCol="0" anchor="t"/>
          <a:lstStyle/>
          <a:p>
            <a:pPr indent="0" marL="0">
              <a:buNone/>
            </a:pPr>
            <a:r>
              <a:rPr lang="en-US" sz="1500" dirty="0">
                <a:solidFill>
                  <a:schemeClr val="tx1"/>
                </a:solidFill>
              </a:rPr>
              <a:t>days of trading</a:t>
            </a:r>
            <a:endParaRPr lang="en-US" sz="1500" dirty="0"/>
          </a:p>
        </p:txBody>
      </p:sp>
      <p:sp>
        <p:nvSpPr>
          <p:cNvPr id="12" name="stat card"/>
          <p:cNvSpPr/>
          <p:nvPr/>
        </p:nvSpPr>
        <p:spPr>
          <a:xfrm>
            <a:off x="4663440" y="2834640"/>
            <a:ext cx="4023360" cy="1554480"/>
          </a:xfrm>
          <a:prstGeom prst="roundRect">
            <a:avLst>
              <a:gd name="adj" fmla="val 7059"/>
            </a:avLst>
          </a:prstGeom>
          <a:solidFill>
            <a:schemeClr val="accent2"/>
          </a:solidFill>
          <a:ln w="12700">
            <a:solidFill>
              <a:schemeClr val="accent2"/>
            </a:solidFill>
            <a:prstDash val="solid"/>
          </a:ln>
        </p:spPr>
      </p:sp>
      <p:sp>
        <p:nvSpPr>
          <p:cNvPr id="13" name="Text 11"/>
          <p:cNvSpPr txBox="1"/>
          <p:nvPr/>
        </p:nvSpPr>
        <p:spPr>
          <a:xfrm>
            <a:off x="4937760" y="3017520"/>
            <a:ext cx="347472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2</a:t>
            </a:r>
            <a:endParaRPr lang="en-US" sz="4400" dirty="0"/>
          </a:p>
        </p:txBody>
      </p:sp>
      <p:sp>
        <p:nvSpPr>
          <p:cNvPr id="14" name="Text 12"/>
          <p:cNvSpPr txBox="1"/>
          <p:nvPr/>
        </p:nvSpPr>
        <p:spPr>
          <a:xfrm>
            <a:off x="4937760" y="3840480"/>
            <a:ext cx="3474720" cy="365760"/>
          </a:xfrm>
          <a:prstGeom prst="rect">
            <a:avLst/>
          </a:prstGeom>
          <a:noFill/>
          <a:ln/>
        </p:spPr>
        <p:txBody>
          <a:bodyPr wrap="square" lIns="0" tIns="0" rIns="0" bIns="0" rtlCol="0" anchor="t"/>
          <a:lstStyle/>
          <a:p>
            <a:pPr indent="0" marL="0">
              <a:buNone/>
            </a:pPr>
            <a:r>
              <a:rPr lang="en-US" sz="1500" dirty="0">
                <a:solidFill>
                  <a:schemeClr val="tx1"/>
                </a:solidFill>
              </a:rPr>
              <a:t>currencies in one column</a:t>
            </a:r>
            <a:endParaRPr lang="en-US" sz="15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Why this is hard by hand</a:t>
            </a:r>
            <a:endParaRPr lang="en-US" sz="2800" dirty="0"/>
          </a:p>
        </p:txBody>
      </p:sp>
      <p:sp>
        <p:nvSpPr>
          <p:cNvPr id="3" name="challenge card"/>
          <p:cNvSpPr/>
          <p:nvPr/>
        </p:nvSpPr>
        <p:spPr>
          <a:xfrm>
            <a:off x="457200" y="1097280"/>
            <a:ext cx="2606040" cy="1600200"/>
          </a:xfrm>
          <a:prstGeom prst="roundRect">
            <a:avLst>
              <a:gd name="adj" fmla="val 6857"/>
            </a:avLst>
          </a:prstGeom>
          <a:solidFill>
            <a:schemeClr val="bg2"/>
          </a:solidFill>
          <a:ln w="12700">
            <a:solidFill>
              <a:schemeClr val="bg2"/>
            </a:solidFill>
            <a:prstDash val="solid"/>
          </a:ln>
        </p:spPr>
      </p:sp>
      <p:sp>
        <p:nvSpPr>
          <p:cNvPr id="4" name="icon circle"/>
          <p:cNvSpPr/>
          <p:nvPr/>
        </p:nvSpPr>
        <p:spPr>
          <a:xfrm>
            <a:off x="685800" y="1325880"/>
            <a:ext cx="502920" cy="50292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796442" y="1436522"/>
            <a:ext cx="281635" cy="281635"/>
          </a:xfrm>
          <a:prstGeom prst="rect">
            <a:avLst/>
          </a:prstGeom>
        </p:spPr>
      </p:pic>
      <p:sp>
        <p:nvSpPr>
          <p:cNvPr id="6" name="Text 3"/>
          <p:cNvSpPr txBox="1"/>
          <p:nvPr/>
        </p:nvSpPr>
        <p:spPr>
          <a:xfrm>
            <a:off x="1325880" y="137160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Two currencies</a:t>
            </a:r>
            <a:endParaRPr lang="en-US" sz="1600" dirty="0"/>
          </a:p>
        </p:txBody>
      </p:sp>
      <p:sp>
        <p:nvSpPr>
          <p:cNvPr id="7" name="Text 4"/>
          <p:cNvSpPr txBox="1"/>
          <p:nvPr/>
        </p:nvSpPr>
        <p:spPr>
          <a:xfrm>
            <a:off x="685800" y="1965960"/>
            <a:ext cx="2194560" cy="640080"/>
          </a:xfrm>
          <a:prstGeom prst="rect">
            <a:avLst/>
          </a:prstGeom>
          <a:noFill/>
          <a:ln/>
        </p:spPr>
        <p:txBody>
          <a:bodyPr wrap="square" lIns="0" tIns="0" rIns="0" bIns="0" rtlCol="0" anchor="t"/>
          <a:lstStyle/>
          <a:p>
            <a:pPr indent="0" marL="0">
              <a:buNone/>
            </a:pPr>
            <a:r>
              <a:rPr lang="en-US" sz="1300" dirty="0">
                <a:solidFill>
                  <a:schemeClr val="tx1"/>
                </a:solidFill>
              </a:rPr>
              <a:t>DKK and PLN sit in the same revenue column</a:t>
            </a:r>
            <a:endParaRPr lang="en-US" sz="1300" dirty="0"/>
          </a:p>
        </p:txBody>
      </p:sp>
      <p:sp>
        <p:nvSpPr>
          <p:cNvPr id="8" name="challenge card"/>
          <p:cNvSpPr/>
          <p:nvPr/>
        </p:nvSpPr>
        <p:spPr>
          <a:xfrm>
            <a:off x="3246120" y="1097280"/>
            <a:ext cx="2606040" cy="1600200"/>
          </a:xfrm>
          <a:prstGeom prst="roundRect">
            <a:avLst>
              <a:gd name="adj" fmla="val 6857"/>
            </a:avLst>
          </a:prstGeom>
          <a:solidFill>
            <a:schemeClr val="bg2"/>
          </a:solidFill>
          <a:ln w="12700">
            <a:solidFill>
              <a:schemeClr val="bg2"/>
            </a:solidFill>
            <a:prstDash val="solid"/>
          </a:ln>
        </p:spPr>
      </p:sp>
      <p:sp>
        <p:nvSpPr>
          <p:cNvPr id="9" name="icon circle"/>
          <p:cNvSpPr/>
          <p:nvPr/>
        </p:nvSpPr>
        <p:spPr>
          <a:xfrm>
            <a:off x="3474720" y="1325880"/>
            <a:ext cx="502920" cy="502920"/>
          </a:xfrm>
          <a:prstGeom prst="ellipse">
            <a:avLst/>
          </a:prstGeom>
          <a:solidFill>
            <a:schemeClr val="accent4"/>
          </a:solidFill>
          <a:ln w="12700">
            <a:solidFill>
              <a:schemeClr val="accent4"/>
            </a:solidFill>
            <a:prstDash val="solid"/>
          </a:ln>
        </p:spPr>
      </p:sp>
      <p:pic>
        <p:nvPicPr>
          <p:cNvPr id="10" name="icon" descr="preencoded.png">    </p:cNvPr>
          <p:cNvPicPr>
            <a:picLocks noChangeAspect="1"/>
          </p:cNvPicPr>
          <p:nvPr/>
        </p:nvPicPr>
        <p:blipFill>
          <a:blip r:embed="rId2"/>
          <a:stretch>
            <a:fillRect/>
          </a:stretch>
        </p:blipFill>
        <p:spPr>
          <a:xfrm>
            <a:off x="3585362" y="1436522"/>
            <a:ext cx="281635" cy="281635"/>
          </a:xfrm>
          <a:prstGeom prst="rect">
            <a:avLst/>
          </a:prstGeom>
        </p:spPr>
      </p:pic>
      <p:sp>
        <p:nvSpPr>
          <p:cNvPr id="11" name="Text 7"/>
          <p:cNvSpPr txBox="1"/>
          <p:nvPr/>
        </p:nvSpPr>
        <p:spPr>
          <a:xfrm>
            <a:off x="4114800" y="137160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Joins everywhere</a:t>
            </a:r>
            <a:endParaRPr lang="en-US" sz="1600" dirty="0"/>
          </a:p>
        </p:txBody>
      </p:sp>
      <p:sp>
        <p:nvSpPr>
          <p:cNvPr id="12" name="Text 8"/>
          <p:cNvSpPr txBox="1"/>
          <p:nvPr/>
        </p:nvSpPr>
        <p:spPr>
          <a:xfrm>
            <a:off x="3474720" y="1965960"/>
            <a:ext cx="2194560" cy="640080"/>
          </a:xfrm>
          <a:prstGeom prst="rect">
            <a:avLst/>
          </a:prstGeom>
          <a:noFill/>
          <a:ln/>
        </p:spPr>
        <p:txBody>
          <a:bodyPr wrap="square" lIns="0" tIns="0" rIns="0" bIns="0" rtlCol="0" anchor="t"/>
          <a:lstStyle/>
          <a:p>
            <a:pPr indent="0" marL="0">
              <a:buNone/>
            </a:pPr>
            <a:r>
              <a:rPr lang="en-US" sz="1300" dirty="0">
                <a:solidFill>
                  <a:schemeClr val="tx1"/>
                </a:solidFill>
              </a:rPr>
              <a:t>Most answers need three or more tables combined</a:t>
            </a:r>
            <a:endParaRPr lang="en-US" sz="1300" dirty="0"/>
          </a:p>
        </p:txBody>
      </p:sp>
      <p:sp>
        <p:nvSpPr>
          <p:cNvPr id="13" name="challenge card"/>
          <p:cNvSpPr/>
          <p:nvPr/>
        </p:nvSpPr>
        <p:spPr>
          <a:xfrm>
            <a:off x="6035040" y="1097280"/>
            <a:ext cx="2606040" cy="1600200"/>
          </a:xfrm>
          <a:prstGeom prst="roundRect">
            <a:avLst>
              <a:gd name="adj" fmla="val 6857"/>
            </a:avLst>
          </a:prstGeom>
          <a:solidFill>
            <a:schemeClr val="bg2"/>
          </a:solidFill>
          <a:ln w="12700">
            <a:solidFill>
              <a:schemeClr val="bg2"/>
            </a:solidFill>
            <a:prstDash val="solid"/>
          </a:ln>
        </p:spPr>
      </p:sp>
      <p:sp>
        <p:nvSpPr>
          <p:cNvPr id="14" name="icon circle"/>
          <p:cNvSpPr/>
          <p:nvPr/>
        </p:nvSpPr>
        <p:spPr>
          <a:xfrm>
            <a:off x="6263640" y="1325880"/>
            <a:ext cx="502920" cy="50292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6374282" y="1436522"/>
            <a:ext cx="281635" cy="281635"/>
          </a:xfrm>
          <a:prstGeom prst="rect">
            <a:avLst/>
          </a:prstGeom>
        </p:spPr>
      </p:pic>
      <p:sp>
        <p:nvSpPr>
          <p:cNvPr id="16" name="Text 11"/>
          <p:cNvSpPr txBox="1"/>
          <p:nvPr/>
        </p:nvSpPr>
        <p:spPr>
          <a:xfrm>
            <a:off x="6903720" y="137160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Free text</a:t>
            </a:r>
            <a:endParaRPr lang="en-US" sz="1600" dirty="0"/>
          </a:p>
        </p:txBody>
      </p:sp>
      <p:sp>
        <p:nvSpPr>
          <p:cNvPr id="17" name="Text 12"/>
          <p:cNvSpPr txBox="1"/>
          <p:nvPr/>
        </p:nvSpPr>
        <p:spPr>
          <a:xfrm>
            <a:off x="6263640" y="1965960"/>
            <a:ext cx="2194560" cy="640080"/>
          </a:xfrm>
          <a:prstGeom prst="rect">
            <a:avLst/>
          </a:prstGeom>
          <a:noFill/>
          <a:ln/>
        </p:spPr>
        <p:txBody>
          <a:bodyPr wrap="square" lIns="0" tIns="0" rIns="0" bIns="0" rtlCol="0" anchor="t"/>
          <a:lstStyle/>
          <a:p>
            <a:pPr indent="0" marL="0">
              <a:buNone/>
            </a:pPr>
            <a:r>
              <a:rPr lang="en-US" sz="1300" dirty="0">
                <a:solidFill>
                  <a:schemeClr val="tx1"/>
                </a:solidFill>
              </a:rPr>
              <a:t>3,240 manager notes you cannot simply sum</a:t>
            </a:r>
            <a:endParaRPr lang="en-US" sz="1300" dirty="0"/>
          </a:p>
        </p:txBody>
      </p:sp>
      <p:sp>
        <p:nvSpPr>
          <p:cNvPr id="18" name="challenge card"/>
          <p:cNvSpPr/>
          <p:nvPr/>
        </p:nvSpPr>
        <p:spPr>
          <a:xfrm>
            <a:off x="457200" y="2880360"/>
            <a:ext cx="2606040" cy="1600200"/>
          </a:xfrm>
          <a:prstGeom prst="roundRect">
            <a:avLst>
              <a:gd name="adj" fmla="val 6857"/>
            </a:avLst>
          </a:prstGeom>
          <a:solidFill>
            <a:schemeClr val="bg2"/>
          </a:solidFill>
          <a:ln w="12700">
            <a:solidFill>
              <a:schemeClr val="bg2"/>
            </a:solidFill>
            <a:prstDash val="solid"/>
          </a:ln>
        </p:spPr>
      </p:sp>
      <p:sp>
        <p:nvSpPr>
          <p:cNvPr id="19" name="icon circle"/>
          <p:cNvSpPr/>
          <p:nvPr/>
        </p:nvSpPr>
        <p:spPr>
          <a:xfrm>
            <a:off x="685800" y="3108960"/>
            <a:ext cx="502920" cy="502920"/>
          </a:xfrm>
          <a:prstGeom prst="ellipse">
            <a:avLst/>
          </a:prstGeom>
          <a:solidFill>
            <a:schemeClr val="accent4"/>
          </a:solidFill>
          <a:ln w="12700">
            <a:solidFill>
              <a:schemeClr val="accent4"/>
            </a:solidFill>
            <a:prstDash val="solid"/>
          </a:ln>
        </p:spPr>
      </p:sp>
      <p:pic>
        <p:nvPicPr>
          <p:cNvPr id="20" name="icon" descr="preencoded.png">    </p:cNvPr>
          <p:cNvPicPr>
            <a:picLocks noChangeAspect="1"/>
          </p:cNvPicPr>
          <p:nvPr/>
        </p:nvPicPr>
        <p:blipFill>
          <a:blip r:embed="rId4"/>
          <a:stretch>
            <a:fillRect/>
          </a:stretch>
        </p:blipFill>
        <p:spPr>
          <a:xfrm>
            <a:off x="796442" y="3219602"/>
            <a:ext cx="281635" cy="281635"/>
          </a:xfrm>
          <a:prstGeom prst="rect">
            <a:avLst/>
          </a:prstGeom>
        </p:spPr>
      </p:pic>
      <p:sp>
        <p:nvSpPr>
          <p:cNvPr id="21" name="Text 15"/>
          <p:cNvSpPr txBox="1"/>
          <p:nvPr/>
        </p:nvSpPr>
        <p:spPr>
          <a:xfrm>
            <a:off x="1325880" y="315468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Weather &amp; events</a:t>
            </a:r>
            <a:endParaRPr lang="en-US" sz="1600" dirty="0"/>
          </a:p>
        </p:txBody>
      </p:sp>
      <p:sp>
        <p:nvSpPr>
          <p:cNvPr id="22" name="Text 16"/>
          <p:cNvSpPr txBox="1"/>
          <p:nvPr/>
        </p:nvSpPr>
        <p:spPr>
          <a:xfrm>
            <a:off x="685800" y="3749040"/>
            <a:ext cx="2194560" cy="640080"/>
          </a:xfrm>
          <a:prstGeom prst="rect">
            <a:avLst/>
          </a:prstGeom>
          <a:noFill/>
          <a:ln/>
        </p:spPr>
        <p:txBody>
          <a:bodyPr wrap="square" lIns="0" tIns="0" rIns="0" bIns="0" rtlCol="0" anchor="t"/>
          <a:lstStyle/>
          <a:p>
            <a:pPr indent="0" marL="0">
              <a:buNone/>
            </a:pPr>
            <a:r>
              <a:rPr lang="en-US" sz="1300" dirty="0">
                <a:solidFill>
                  <a:schemeClr val="tx1"/>
                </a:solidFill>
              </a:rPr>
              <a:t>Every day has its own rain, sun, match or market</a:t>
            </a:r>
            <a:endParaRPr lang="en-US" sz="1300" dirty="0"/>
          </a:p>
        </p:txBody>
      </p:sp>
      <p:sp>
        <p:nvSpPr>
          <p:cNvPr id="23" name="challenge card"/>
          <p:cNvSpPr/>
          <p:nvPr/>
        </p:nvSpPr>
        <p:spPr>
          <a:xfrm>
            <a:off x="3246120" y="2880360"/>
            <a:ext cx="2606040" cy="1600200"/>
          </a:xfrm>
          <a:prstGeom prst="roundRect">
            <a:avLst>
              <a:gd name="adj" fmla="val 6857"/>
            </a:avLst>
          </a:prstGeom>
          <a:solidFill>
            <a:schemeClr val="bg2"/>
          </a:solidFill>
          <a:ln w="12700">
            <a:solidFill>
              <a:schemeClr val="bg2"/>
            </a:solidFill>
            <a:prstDash val="solid"/>
          </a:ln>
        </p:spPr>
      </p:sp>
      <p:sp>
        <p:nvSpPr>
          <p:cNvPr id="24" name="icon circle"/>
          <p:cNvSpPr/>
          <p:nvPr/>
        </p:nvSpPr>
        <p:spPr>
          <a:xfrm>
            <a:off x="3474720" y="3108960"/>
            <a:ext cx="502920" cy="502920"/>
          </a:xfrm>
          <a:prstGeom prst="ellipse">
            <a:avLst/>
          </a:prstGeom>
          <a:solidFill>
            <a:schemeClr val="accent1"/>
          </a:solidFill>
          <a:ln w="12700">
            <a:solidFill>
              <a:schemeClr val="accent1"/>
            </a:solidFill>
            <a:prstDash val="solid"/>
          </a:ln>
        </p:spPr>
      </p:sp>
      <p:pic>
        <p:nvPicPr>
          <p:cNvPr id="25" name="icon" descr="preencoded.png">    </p:cNvPr>
          <p:cNvPicPr>
            <a:picLocks noChangeAspect="1"/>
          </p:cNvPicPr>
          <p:nvPr/>
        </p:nvPicPr>
        <p:blipFill>
          <a:blip r:embed="rId5"/>
          <a:stretch>
            <a:fillRect/>
          </a:stretch>
        </p:blipFill>
        <p:spPr>
          <a:xfrm>
            <a:off x="3585362" y="3219602"/>
            <a:ext cx="281635" cy="281635"/>
          </a:xfrm>
          <a:prstGeom prst="rect">
            <a:avLst/>
          </a:prstGeom>
        </p:spPr>
      </p:pic>
      <p:sp>
        <p:nvSpPr>
          <p:cNvPr id="26" name="Text 19"/>
          <p:cNvSpPr txBox="1"/>
          <p:nvPr/>
        </p:nvSpPr>
        <p:spPr>
          <a:xfrm>
            <a:off x="4114800" y="315468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Gaps</a:t>
            </a:r>
            <a:endParaRPr lang="en-US" sz="1600" dirty="0"/>
          </a:p>
        </p:txBody>
      </p:sp>
      <p:sp>
        <p:nvSpPr>
          <p:cNvPr id="27" name="Text 20"/>
          <p:cNvSpPr txBox="1"/>
          <p:nvPr/>
        </p:nvSpPr>
        <p:spPr>
          <a:xfrm>
            <a:off x="3474720" y="3749040"/>
            <a:ext cx="2194560" cy="640080"/>
          </a:xfrm>
          <a:prstGeom prst="rect">
            <a:avLst/>
          </a:prstGeom>
          <a:noFill/>
          <a:ln/>
        </p:spPr>
        <p:txBody>
          <a:bodyPr wrap="square" lIns="0" tIns="0" rIns="0" bIns="0" rtlCol="0" anchor="t"/>
          <a:lstStyle/>
          <a:p>
            <a:pPr indent="0" marL="0">
              <a:buNone/>
            </a:pPr>
            <a:r>
              <a:rPr lang="en-US" sz="1300" dirty="0">
                <a:solidFill>
                  <a:schemeClr val="tx1"/>
                </a:solidFill>
              </a:rPr>
              <a:t>Not every stand trades on every single day</a:t>
            </a:r>
            <a:endParaRPr lang="en-US" sz="1300" dirty="0"/>
          </a:p>
        </p:txBody>
      </p:sp>
      <p:sp>
        <p:nvSpPr>
          <p:cNvPr id="28" name="challenge card"/>
          <p:cNvSpPr/>
          <p:nvPr/>
        </p:nvSpPr>
        <p:spPr>
          <a:xfrm>
            <a:off x="6035040" y="2880360"/>
            <a:ext cx="2606040" cy="1600200"/>
          </a:xfrm>
          <a:prstGeom prst="roundRect">
            <a:avLst>
              <a:gd name="adj" fmla="val 6857"/>
            </a:avLst>
          </a:prstGeom>
          <a:solidFill>
            <a:schemeClr val="bg2"/>
          </a:solidFill>
          <a:ln w="12700">
            <a:solidFill>
              <a:schemeClr val="bg2"/>
            </a:solidFill>
            <a:prstDash val="solid"/>
          </a:ln>
        </p:spPr>
      </p:sp>
      <p:sp>
        <p:nvSpPr>
          <p:cNvPr id="29" name="icon circle"/>
          <p:cNvSpPr/>
          <p:nvPr/>
        </p:nvSpPr>
        <p:spPr>
          <a:xfrm>
            <a:off x="6263640" y="3108960"/>
            <a:ext cx="502920" cy="502920"/>
          </a:xfrm>
          <a:prstGeom prst="ellipse">
            <a:avLst/>
          </a:prstGeom>
          <a:solidFill>
            <a:schemeClr val="accent4"/>
          </a:solidFill>
          <a:ln w="12700">
            <a:solidFill>
              <a:schemeClr val="accent4"/>
            </a:solidFill>
            <a:prstDash val="solid"/>
          </a:ln>
        </p:spPr>
      </p:sp>
      <p:pic>
        <p:nvPicPr>
          <p:cNvPr id="30" name="icon" descr="preencoded.png">    </p:cNvPr>
          <p:cNvPicPr>
            <a:picLocks noChangeAspect="1"/>
          </p:cNvPicPr>
          <p:nvPr/>
        </p:nvPicPr>
        <p:blipFill>
          <a:blip r:embed="rId6"/>
          <a:stretch>
            <a:fillRect/>
          </a:stretch>
        </p:blipFill>
        <p:spPr>
          <a:xfrm>
            <a:off x="6374282" y="3219602"/>
            <a:ext cx="281635" cy="281635"/>
          </a:xfrm>
          <a:prstGeom prst="rect">
            <a:avLst/>
          </a:prstGeom>
        </p:spPr>
      </p:pic>
      <p:sp>
        <p:nvSpPr>
          <p:cNvPr id="31" name="Text 23"/>
          <p:cNvSpPr txBox="1"/>
          <p:nvPr/>
        </p:nvSpPr>
        <p:spPr>
          <a:xfrm>
            <a:off x="6903720" y="3154680"/>
            <a:ext cx="1645920" cy="411480"/>
          </a:xfrm>
          <a:prstGeom prst="rect">
            <a:avLst/>
          </a:prstGeom>
          <a:noFill/>
          <a:ln/>
        </p:spPr>
        <p:txBody>
          <a:bodyPr wrap="square" lIns="0" tIns="0" rIns="0" bIns="0" rtlCol="0" anchor="ctr"/>
          <a:lstStyle/>
          <a:p>
            <a:pPr indent="0" marL="0">
              <a:buNone/>
            </a:pPr>
            <a:r>
              <a:rPr lang="en-US" sz="1600" b="1" dirty="0">
                <a:solidFill>
                  <a:schemeClr val="tx1"/>
                </a:solidFill>
              </a:rPr>
              <a:t>Seasons</a:t>
            </a:r>
            <a:endParaRPr lang="en-US" sz="1600" dirty="0"/>
          </a:p>
        </p:txBody>
      </p:sp>
      <p:sp>
        <p:nvSpPr>
          <p:cNvPr id="32" name="Text 24"/>
          <p:cNvSpPr txBox="1"/>
          <p:nvPr/>
        </p:nvSpPr>
        <p:spPr>
          <a:xfrm>
            <a:off x="6263640" y="3749040"/>
            <a:ext cx="2194560" cy="640080"/>
          </a:xfrm>
          <a:prstGeom prst="rect">
            <a:avLst/>
          </a:prstGeom>
          <a:noFill/>
          <a:ln/>
        </p:spPr>
        <p:txBody>
          <a:bodyPr wrap="square" lIns="0" tIns="0" rIns="0" bIns="0" rtlCol="0" anchor="t"/>
          <a:lstStyle/>
          <a:p>
            <a:pPr indent="0" marL="0">
              <a:buNone/>
            </a:pPr>
            <a:r>
              <a:rPr lang="en-US" sz="1300" dirty="0">
                <a:solidFill>
                  <a:schemeClr val="tx1"/>
                </a:solidFill>
              </a:rPr>
              <a:t>Two summers, two winters, two Christmases</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5669280" cy="914400"/>
          </a:xfrm>
          <a:prstGeom prst="rect">
            <a:avLst/>
          </a:prstGeom>
          <a:noFill/>
          <a:ln/>
        </p:spPr>
        <p:txBody>
          <a:bodyPr wrap="square" lIns="0" tIns="0" rIns="0" bIns="0" rtlCol="0" anchor="b"/>
          <a:lstStyle/>
          <a:p>
            <a:pPr algn="l" indent="0" marL="0">
              <a:buNone/>
            </a:pPr>
            <a:r>
              <a:rPr lang="en-US" sz="4000" b="1" dirty="0">
                <a:solidFill>
                  <a:schemeClr val="bg1"/>
                </a:solidFill>
              </a:rPr>
              <a:t>Round zero</a:t>
            </a:r>
            <a:endParaRPr lang="en-US" sz="4000" dirty="0"/>
          </a:p>
        </p:txBody>
      </p:sp>
      <p:sp>
        <p:nvSpPr>
          <p:cNvPr id="3" name="Text 0"/>
          <p:cNvSpPr/>
          <p:nvPr>
            <p:ph idx="101" type="body" hasCustomPrompt="1"/>
          </p:nvPr>
        </p:nvSpPr>
        <p:spPr>
          <a:xfrm>
            <a:off x="548640" y="2697480"/>
            <a:ext cx="5669280" cy="548640"/>
          </a:xfrm>
          <a:prstGeom prst="rect">
            <a:avLst/>
          </a:prstGeom>
          <a:noFill/>
          <a:ln/>
        </p:spPr>
        <p:txBody>
          <a:bodyPr wrap="square" lIns="0" tIns="0" rIns="0" bIns="0" rtlCol="0" anchor="t"/>
          <a:lstStyle/>
          <a:p>
            <a:pPr indent="0" marL="0">
              <a:buNone/>
            </a:pPr>
            <a:r>
              <a:rPr lang="en-US" sz="2000" i="1" dirty="0">
                <a:solidFill>
                  <a:schemeClr val="accent2"/>
                </a:solidFill>
              </a:rPr>
              <a:t>Bez AI  ·  Uden AI</a:t>
            </a:r>
            <a:endParaRPr lang="en-US" sz="2000" dirty="0"/>
          </a:p>
        </p:txBody>
      </p:sp>
      <p:pic>
        <p:nvPicPr>
          <p:cNvPr id="4" name="hot dog" descr="preencoded.png">    </p:cNvPr>
          <p:cNvPicPr>
            <a:picLocks noChangeAspect="1"/>
          </p:cNvPicPr>
          <p:nvPr/>
        </p:nvPicPr>
        <p:blipFill>
          <a:blip r:embed="rId1"/>
          <a:stretch>
            <a:fillRect/>
          </a:stretch>
        </p:blipFill>
        <p:spPr>
          <a:xfrm>
            <a:off x="6400800" y="1371600"/>
            <a:ext cx="2194560" cy="21945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Just you, Excel and your gut</a:t>
            </a:r>
            <a:endParaRPr lang="en-US" sz="2800" dirty="0"/>
          </a:p>
        </p:txBody>
      </p:sp>
      <p:sp>
        <p:nvSpPr>
          <p:cNvPr id="3" name="timer"/>
          <p:cNvSpPr/>
          <p:nvPr/>
        </p:nvSpPr>
        <p:spPr>
          <a:xfrm>
            <a:off x="457200" y="1143000"/>
            <a:ext cx="2926080" cy="3291840"/>
          </a:xfrm>
          <a:prstGeom prst="roundRect">
            <a:avLst>
              <a:gd name="adj" fmla="val 3750"/>
            </a:avLst>
          </a:prstGeom>
          <a:solidFill>
            <a:schemeClr val="tx2"/>
          </a:solidFill>
          <a:ln w="12700">
            <a:solidFill>
              <a:schemeClr val="tx2"/>
            </a:solidFill>
            <a:prstDash val="solid"/>
          </a:ln>
        </p:spPr>
      </p:sp>
      <p:sp>
        <p:nvSpPr>
          <p:cNvPr id="4" name="Text 2"/>
          <p:cNvSpPr txBox="1"/>
          <p:nvPr/>
        </p:nvSpPr>
        <p:spPr>
          <a:xfrm>
            <a:off x="457200" y="1600200"/>
            <a:ext cx="2926080" cy="1280160"/>
          </a:xfrm>
          <a:prstGeom prst="rect">
            <a:avLst/>
          </a:prstGeom>
          <a:noFill/>
          <a:ln/>
        </p:spPr>
        <p:txBody>
          <a:bodyPr wrap="square" lIns="0" tIns="0" rIns="0" bIns="0" rtlCol="0" anchor="t"/>
          <a:lstStyle/>
          <a:p>
            <a:pPr algn="ctr" indent="0" marL="0">
              <a:buNone/>
            </a:pPr>
            <a:r>
              <a:rPr lang="en-US" sz="7200" b="1" dirty="0">
                <a:solidFill>
                  <a:schemeClr val="accent2"/>
                </a:solidFill>
                <a:latin typeface="Bookman Old Style" pitchFamily="34" charset="0"/>
                <a:ea typeface="Bookman Old Style" pitchFamily="34" charset="-122"/>
                <a:cs typeface="Bookman Old Style" pitchFamily="34" charset="-120"/>
              </a:rPr>
              <a:t>5:00</a:t>
            </a:r>
            <a:endParaRPr lang="en-US" sz="7200" dirty="0"/>
          </a:p>
        </p:txBody>
      </p:sp>
      <p:sp>
        <p:nvSpPr>
          <p:cNvPr id="5" name="Text 3"/>
          <p:cNvSpPr txBox="1"/>
          <p:nvPr/>
        </p:nvSpPr>
        <p:spPr>
          <a:xfrm>
            <a:off x="457200" y="2971800"/>
            <a:ext cx="2926080" cy="365760"/>
          </a:xfrm>
          <a:prstGeom prst="rect">
            <a:avLst/>
          </a:prstGeom>
          <a:noFill/>
          <a:ln/>
        </p:spPr>
        <p:txBody>
          <a:bodyPr wrap="square" lIns="0" tIns="0" rIns="0" bIns="0" rtlCol="0" anchor="t"/>
          <a:lstStyle/>
          <a:p>
            <a:pPr algn="ctr" indent="0" marL="0">
              <a:buNone/>
            </a:pPr>
            <a:r>
              <a:rPr lang="en-US" sz="1500" dirty="0">
                <a:solidFill>
                  <a:schemeClr val="bg1"/>
                </a:solidFill>
              </a:rPr>
              <a:t>minutes · no AI allowed</a:t>
            </a:r>
            <a:endParaRPr lang="en-US" sz="1500" dirty="0"/>
          </a:p>
        </p:txBody>
      </p:sp>
      <p:sp>
        <p:nvSpPr>
          <p:cNvPr id="6" name="icon circle"/>
          <p:cNvSpPr/>
          <p:nvPr/>
        </p:nvSpPr>
        <p:spPr>
          <a:xfrm>
            <a:off x="3749040" y="1216152"/>
            <a:ext cx="502920" cy="50292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3859682" y="1326794"/>
            <a:ext cx="281635" cy="281635"/>
          </a:xfrm>
          <a:prstGeom prst="rect">
            <a:avLst/>
          </a:prstGeom>
        </p:spPr>
      </p:pic>
      <p:sp>
        <p:nvSpPr>
          <p:cNvPr id="8" name="Text 5"/>
          <p:cNvSpPr txBox="1"/>
          <p:nvPr/>
        </p:nvSpPr>
        <p:spPr>
          <a:xfrm>
            <a:off x="4434840" y="1143000"/>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Which stand is the best?</a:t>
            </a:r>
            <a:endParaRPr lang="en-US" sz="1800" dirty="0"/>
          </a:p>
        </p:txBody>
      </p:sp>
      <p:sp>
        <p:nvSpPr>
          <p:cNvPr id="9" name="icon circle"/>
          <p:cNvSpPr/>
          <p:nvPr/>
        </p:nvSpPr>
        <p:spPr>
          <a:xfrm>
            <a:off x="3749040" y="2084832"/>
            <a:ext cx="502920" cy="50292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3859682" y="2195474"/>
            <a:ext cx="281635" cy="281635"/>
          </a:xfrm>
          <a:prstGeom prst="rect">
            <a:avLst/>
          </a:prstGeom>
        </p:spPr>
      </p:pic>
      <p:sp>
        <p:nvSpPr>
          <p:cNvPr id="11" name="Text 7"/>
          <p:cNvSpPr txBox="1"/>
          <p:nvPr/>
        </p:nvSpPr>
        <p:spPr>
          <a:xfrm>
            <a:off x="4434840" y="2011680"/>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Is the business growing?</a:t>
            </a:r>
            <a:endParaRPr lang="en-US" sz="1800" dirty="0"/>
          </a:p>
        </p:txBody>
      </p:sp>
      <p:sp>
        <p:nvSpPr>
          <p:cNvPr id="12" name="icon circle"/>
          <p:cNvSpPr/>
          <p:nvPr/>
        </p:nvSpPr>
        <p:spPr>
          <a:xfrm>
            <a:off x="3749040" y="2953512"/>
            <a:ext cx="502920" cy="50292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3"/>
          <a:stretch>
            <a:fillRect/>
          </a:stretch>
        </p:blipFill>
        <p:spPr>
          <a:xfrm>
            <a:off x="3859682" y="3064154"/>
            <a:ext cx="281635" cy="281635"/>
          </a:xfrm>
          <a:prstGeom prst="rect">
            <a:avLst/>
          </a:prstGeom>
        </p:spPr>
      </p:pic>
      <p:sp>
        <p:nvSpPr>
          <p:cNvPr id="14" name="Text 9"/>
          <p:cNvSpPr txBox="1"/>
          <p:nvPr/>
        </p:nvSpPr>
        <p:spPr>
          <a:xfrm>
            <a:off x="4434840" y="2880360"/>
            <a:ext cx="4206240" cy="658368"/>
          </a:xfrm>
          <a:prstGeom prst="rect">
            <a:avLst/>
          </a:prstGeom>
          <a:noFill/>
          <a:ln/>
        </p:spPr>
        <p:txBody>
          <a:bodyPr wrap="square" lIns="0" tIns="0" rIns="0" bIns="0" rtlCol="0" anchor="ctr"/>
          <a:lstStyle/>
          <a:p>
            <a:pPr indent="0" marL="0">
              <a:buNone/>
            </a:pPr>
            <a:r>
              <a:rPr lang="en-US" sz="1800" b="1" dirty="0">
                <a:solidFill>
                  <a:schemeClr val="tx1"/>
                </a:solidFill>
              </a:rPr>
              <a:t>What is one thing the CEO should worry about?</a:t>
            </a:r>
            <a:endParaRPr lang="en-US" sz="1800" dirty="0"/>
          </a:p>
        </p:txBody>
      </p:sp>
      <p:sp>
        <p:nvSpPr>
          <p:cNvPr id="15" name="Text 10"/>
          <p:cNvSpPr txBox="1"/>
          <p:nvPr/>
        </p:nvSpPr>
        <p:spPr>
          <a:xfrm>
            <a:off x="3749040" y="3794760"/>
            <a:ext cx="4937760" cy="640080"/>
          </a:xfrm>
          <a:prstGeom prst="rect">
            <a:avLst/>
          </a:prstGeom>
          <a:noFill/>
          <a:ln/>
        </p:spPr>
        <p:txBody>
          <a:bodyPr wrap="square" lIns="0" tIns="0" rIns="0" bIns="0" rtlCol="0" anchor="t"/>
          <a:lstStyle/>
          <a:p>
            <a:pPr indent="0" marL="0">
              <a:buNone/>
            </a:pPr>
            <a:r>
              <a:rPr lang="en-US" sz="1400" i="1" dirty="0">
                <a:solidFill>
                  <a:schemeClr val="accent5"/>
                </a:solidFill>
              </a:rPr>
              <a:t>Write your answers on a sticky note. We compare them with the AI-powered results at the end.</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5669280" cy="914400"/>
          </a:xfrm>
          <a:prstGeom prst="rect">
            <a:avLst/>
          </a:prstGeom>
          <a:noFill/>
          <a:ln/>
        </p:spPr>
        <p:txBody>
          <a:bodyPr wrap="square" lIns="0" tIns="0" rIns="0" bIns="0" rtlCol="0" anchor="b"/>
          <a:lstStyle/>
          <a:p>
            <a:pPr algn="l" indent="0" marL="0">
              <a:buNone/>
            </a:pPr>
            <a:r>
              <a:rPr lang="en-US" sz="4000" b="1" dirty="0">
                <a:solidFill>
                  <a:schemeClr val="bg1"/>
                </a:solidFill>
              </a:rPr>
              <a:t>Your mission</a:t>
            </a:r>
            <a:endParaRPr lang="en-US" sz="4000" dirty="0"/>
          </a:p>
        </p:txBody>
      </p:sp>
      <p:sp>
        <p:nvSpPr>
          <p:cNvPr id="3" name="Text 0"/>
          <p:cNvSpPr/>
          <p:nvPr>
            <p:ph idx="101" type="body" hasCustomPrompt="1"/>
          </p:nvPr>
        </p:nvSpPr>
        <p:spPr>
          <a:xfrm>
            <a:off x="548640" y="2697480"/>
            <a:ext cx="5669280" cy="548640"/>
          </a:xfrm>
          <a:prstGeom prst="rect">
            <a:avLst/>
          </a:prstGeom>
          <a:noFill/>
          <a:ln/>
        </p:spPr>
        <p:txBody>
          <a:bodyPr wrap="square" lIns="0" tIns="0" rIns="0" bIns="0" rtlCol="0" anchor="t"/>
          <a:lstStyle/>
          <a:p>
            <a:pPr indent="0" marL="0">
              <a:buNone/>
            </a:pPr>
            <a:r>
              <a:rPr lang="en-US" sz="2000" i="1" dirty="0">
                <a:solidFill>
                  <a:schemeClr val="accent2"/>
                </a:solidFill>
              </a:rPr>
              <a:t>Do dzieła!  ·  Lad os komme i gang!</a:t>
            </a:r>
            <a:endParaRPr lang="en-US" sz="2000" dirty="0"/>
          </a:p>
        </p:txBody>
      </p:sp>
      <p:pic>
        <p:nvPicPr>
          <p:cNvPr id="4" name="hot dog" descr="preencoded.png">    </p:cNvPr>
          <p:cNvPicPr>
            <a:picLocks noChangeAspect="1"/>
          </p:cNvPicPr>
          <p:nvPr/>
        </p:nvPicPr>
        <p:blipFill>
          <a:blip r:embed="rId1"/>
          <a:stretch>
            <a:fillRect/>
          </a:stretch>
        </p:blipFill>
        <p:spPr>
          <a:xfrm>
            <a:off x="6400800" y="1371600"/>
            <a:ext cx="2194560" cy="219456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Build the CEO's dashboard</a:t>
            </a:r>
            <a:endParaRPr lang="en-US" sz="2800" dirty="0"/>
          </a:p>
        </p:txBody>
      </p:sp>
      <p:sp>
        <p:nvSpPr>
          <p:cNvPr id="3" name="icon circle"/>
          <p:cNvSpPr/>
          <p:nvPr/>
        </p:nvSpPr>
        <p:spPr>
          <a:xfrm>
            <a:off x="457200" y="1143000"/>
            <a:ext cx="548640" cy="54864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577901" y="1263701"/>
            <a:ext cx="307238" cy="307238"/>
          </a:xfrm>
          <a:prstGeom prst="rect">
            <a:avLst/>
          </a:prstGeom>
        </p:spPr>
      </p:pic>
      <p:sp>
        <p:nvSpPr>
          <p:cNvPr id="5" name="Text 2"/>
          <p:cNvSpPr txBox="1"/>
          <p:nvPr/>
        </p:nvSpPr>
        <p:spPr>
          <a:xfrm>
            <a:off x="1188720" y="1097280"/>
            <a:ext cx="4206240" cy="347472"/>
          </a:xfrm>
          <a:prstGeom prst="rect">
            <a:avLst/>
          </a:prstGeom>
          <a:noFill/>
          <a:ln/>
        </p:spPr>
        <p:txBody>
          <a:bodyPr wrap="square" lIns="0" tIns="0" rIns="0" bIns="0" rtlCol="0" anchor="t"/>
          <a:lstStyle/>
          <a:p>
            <a:pPr indent="0" marL="0">
              <a:buNone/>
            </a:pPr>
            <a:r>
              <a:rPr lang="en-US" sz="1700" b="1" dirty="0">
                <a:solidFill>
                  <a:schemeClr val="tx1"/>
                </a:solidFill>
              </a:rPr>
              <a:t>Work in pairs</a:t>
            </a:r>
            <a:endParaRPr lang="en-US" sz="1700" dirty="0"/>
          </a:p>
        </p:txBody>
      </p:sp>
      <p:sp>
        <p:nvSpPr>
          <p:cNvPr id="6" name="Text 3"/>
          <p:cNvSpPr txBox="1"/>
          <p:nvPr/>
        </p:nvSpPr>
        <p:spPr>
          <a:xfrm>
            <a:off x="1188720" y="1444752"/>
            <a:ext cx="4206240" cy="320040"/>
          </a:xfrm>
          <a:prstGeom prst="rect">
            <a:avLst/>
          </a:prstGeom>
          <a:noFill/>
          <a:ln/>
        </p:spPr>
        <p:txBody>
          <a:bodyPr wrap="square" lIns="0" tIns="0" rIns="0" bIns="0" rtlCol="0" anchor="t"/>
          <a:lstStyle/>
          <a:p>
            <a:pPr indent="0" marL="0">
              <a:buNone/>
            </a:pPr>
            <a:r>
              <a:rPr lang="en-US" sz="1300" dirty="0">
                <a:solidFill>
                  <a:schemeClr val="accent5"/>
                </a:solidFill>
              </a:rPr>
              <a:t>Mix Copenhagen and Warsaw where you can</a:t>
            </a:r>
            <a:endParaRPr lang="en-US" sz="1300" dirty="0"/>
          </a:p>
        </p:txBody>
      </p:sp>
      <p:sp>
        <p:nvSpPr>
          <p:cNvPr id="7" name="icon circle"/>
          <p:cNvSpPr/>
          <p:nvPr/>
        </p:nvSpPr>
        <p:spPr>
          <a:xfrm>
            <a:off x="457200" y="1984248"/>
            <a:ext cx="548640" cy="548640"/>
          </a:xfrm>
          <a:prstGeom prst="ellipse">
            <a:avLst/>
          </a:prstGeom>
          <a:solidFill>
            <a:schemeClr val="accent1"/>
          </a:solidFill>
          <a:ln w="12700">
            <a:solidFill>
              <a:schemeClr val="accent1"/>
            </a:solidFill>
            <a:prstDash val="solid"/>
          </a:ln>
        </p:spPr>
      </p:sp>
      <p:pic>
        <p:nvPicPr>
          <p:cNvPr id="8" name="icon" descr="preencoded.png">    </p:cNvPr>
          <p:cNvPicPr>
            <a:picLocks noChangeAspect="1"/>
          </p:cNvPicPr>
          <p:nvPr/>
        </p:nvPicPr>
        <p:blipFill>
          <a:blip r:embed="rId2"/>
          <a:stretch>
            <a:fillRect/>
          </a:stretch>
        </p:blipFill>
        <p:spPr>
          <a:xfrm>
            <a:off x="577901" y="2104949"/>
            <a:ext cx="307238" cy="307238"/>
          </a:xfrm>
          <a:prstGeom prst="rect">
            <a:avLst/>
          </a:prstGeom>
        </p:spPr>
      </p:pic>
      <p:sp>
        <p:nvSpPr>
          <p:cNvPr id="9" name="Text 5"/>
          <p:cNvSpPr txBox="1"/>
          <p:nvPr/>
        </p:nvSpPr>
        <p:spPr>
          <a:xfrm>
            <a:off x="1188720" y="1938528"/>
            <a:ext cx="4206240" cy="347472"/>
          </a:xfrm>
          <a:prstGeom prst="rect">
            <a:avLst/>
          </a:prstGeom>
          <a:noFill/>
          <a:ln/>
        </p:spPr>
        <p:txBody>
          <a:bodyPr wrap="square" lIns="0" tIns="0" rIns="0" bIns="0" rtlCol="0" anchor="t"/>
          <a:lstStyle/>
          <a:p>
            <a:pPr indent="0" marL="0">
              <a:buNone/>
            </a:pPr>
            <a:r>
              <a:rPr lang="en-US" sz="1700" b="1" dirty="0">
                <a:solidFill>
                  <a:schemeClr val="tx1"/>
                </a:solidFill>
              </a:rPr>
              <a:t>Use any AI you have</a:t>
            </a:r>
            <a:endParaRPr lang="en-US" sz="1700" dirty="0"/>
          </a:p>
        </p:txBody>
      </p:sp>
      <p:sp>
        <p:nvSpPr>
          <p:cNvPr id="10" name="Text 6"/>
          <p:cNvSpPr txBox="1"/>
          <p:nvPr/>
        </p:nvSpPr>
        <p:spPr>
          <a:xfrm>
            <a:off x="1188720" y="2286000"/>
            <a:ext cx="4206240" cy="320040"/>
          </a:xfrm>
          <a:prstGeom prst="rect">
            <a:avLst/>
          </a:prstGeom>
          <a:noFill/>
          <a:ln/>
        </p:spPr>
        <p:txBody>
          <a:bodyPr wrap="square" lIns="0" tIns="0" rIns="0" bIns="0" rtlCol="0" anchor="t"/>
          <a:lstStyle/>
          <a:p>
            <a:pPr indent="0" marL="0">
              <a:buNone/>
            </a:pPr>
            <a:r>
              <a:rPr lang="en-US" sz="1300" dirty="0">
                <a:solidFill>
                  <a:schemeClr val="accent5"/>
                </a:solidFill>
              </a:rPr>
              <a:t>Copilot, Opus, or anything else available</a:t>
            </a:r>
            <a:endParaRPr lang="en-US" sz="1300" dirty="0"/>
          </a:p>
        </p:txBody>
      </p:sp>
      <p:sp>
        <p:nvSpPr>
          <p:cNvPr id="11" name="icon circle"/>
          <p:cNvSpPr/>
          <p:nvPr/>
        </p:nvSpPr>
        <p:spPr>
          <a:xfrm>
            <a:off x="457200" y="2825496"/>
            <a:ext cx="548640" cy="548640"/>
          </a:xfrm>
          <a:prstGeom prst="ellipse">
            <a:avLst/>
          </a:prstGeom>
          <a:solidFill>
            <a:schemeClr val="accent1"/>
          </a:solidFill>
          <a:ln w="12700">
            <a:solidFill>
              <a:schemeClr val="accent1"/>
            </a:solidFill>
            <a:prstDash val="solid"/>
          </a:ln>
        </p:spPr>
      </p:sp>
      <p:pic>
        <p:nvPicPr>
          <p:cNvPr id="12" name="icon" descr="preencoded.png">    </p:cNvPr>
          <p:cNvPicPr>
            <a:picLocks noChangeAspect="1"/>
          </p:cNvPicPr>
          <p:nvPr/>
        </p:nvPicPr>
        <p:blipFill>
          <a:blip r:embed="rId3"/>
          <a:stretch>
            <a:fillRect/>
          </a:stretch>
        </p:blipFill>
        <p:spPr>
          <a:xfrm>
            <a:off x="577901" y="2946197"/>
            <a:ext cx="307238" cy="307238"/>
          </a:xfrm>
          <a:prstGeom prst="rect">
            <a:avLst/>
          </a:prstGeom>
        </p:spPr>
      </p:pic>
      <p:sp>
        <p:nvSpPr>
          <p:cNvPr id="13" name="Text 8"/>
          <p:cNvSpPr txBox="1"/>
          <p:nvPr/>
        </p:nvSpPr>
        <p:spPr>
          <a:xfrm>
            <a:off x="1188720" y="2779776"/>
            <a:ext cx="4206240" cy="347472"/>
          </a:xfrm>
          <a:prstGeom prst="rect">
            <a:avLst/>
          </a:prstGeom>
          <a:noFill/>
          <a:ln/>
        </p:spPr>
        <p:txBody>
          <a:bodyPr wrap="square" lIns="0" tIns="0" rIns="0" bIns="0" rtlCol="0" anchor="t"/>
          <a:lstStyle/>
          <a:p>
            <a:pPr indent="0" marL="0">
              <a:buNone/>
            </a:pPr>
            <a:r>
              <a:rPr lang="en-US" sz="1700" b="1" dirty="0">
                <a:solidFill>
                  <a:schemeClr val="tx1"/>
                </a:solidFill>
              </a:rPr>
              <a:t>Deliver one dashboard</a:t>
            </a:r>
            <a:endParaRPr lang="en-US" sz="1700" dirty="0"/>
          </a:p>
        </p:txBody>
      </p:sp>
      <p:sp>
        <p:nvSpPr>
          <p:cNvPr id="14" name="Text 9"/>
          <p:cNvSpPr txBox="1"/>
          <p:nvPr/>
        </p:nvSpPr>
        <p:spPr>
          <a:xfrm>
            <a:off x="1188720" y="3127248"/>
            <a:ext cx="4206240" cy="320040"/>
          </a:xfrm>
          <a:prstGeom prst="rect">
            <a:avLst/>
          </a:prstGeom>
          <a:noFill/>
          <a:ln/>
        </p:spPr>
        <p:txBody>
          <a:bodyPr wrap="square" lIns="0" tIns="0" rIns="0" bIns="0" rtlCol="0" anchor="t"/>
          <a:lstStyle/>
          <a:p>
            <a:pPr indent="0" marL="0">
              <a:buNone/>
            </a:pPr>
            <a:r>
              <a:rPr lang="en-US" sz="1300" dirty="0">
                <a:solidFill>
                  <a:schemeClr val="accent5"/>
                </a:solidFill>
              </a:rPr>
              <a:t>Answer the CEO's three questions</a:t>
            </a:r>
            <a:endParaRPr lang="en-US" sz="1300" dirty="0"/>
          </a:p>
        </p:txBody>
      </p:sp>
      <p:sp>
        <p:nvSpPr>
          <p:cNvPr id="15" name="icon circle"/>
          <p:cNvSpPr/>
          <p:nvPr/>
        </p:nvSpPr>
        <p:spPr>
          <a:xfrm>
            <a:off x="457200" y="3666744"/>
            <a:ext cx="548640" cy="54864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4"/>
          <a:stretch>
            <a:fillRect/>
          </a:stretch>
        </p:blipFill>
        <p:spPr>
          <a:xfrm>
            <a:off x="577901" y="3787445"/>
            <a:ext cx="307238" cy="307238"/>
          </a:xfrm>
          <a:prstGeom prst="rect">
            <a:avLst/>
          </a:prstGeom>
        </p:spPr>
      </p:pic>
      <p:sp>
        <p:nvSpPr>
          <p:cNvPr id="17" name="Text 11"/>
          <p:cNvSpPr txBox="1"/>
          <p:nvPr/>
        </p:nvSpPr>
        <p:spPr>
          <a:xfrm>
            <a:off x="1188720" y="3621024"/>
            <a:ext cx="4206240" cy="347472"/>
          </a:xfrm>
          <a:prstGeom prst="rect">
            <a:avLst/>
          </a:prstGeom>
          <a:noFill/>
          <a:ln/>
        </p:spPr>
        <p:txBody>
          <a:bodyPr wrap="square" lIns="0" tIns="0" rIns="0" bIns="0" rtlCol="0" anchor="t"/>
          <a:lstStyle/>
          <a:p>
            <a:pPr indent="0" marL="0">
              <a:buNone/>
            </a:pPr>
            <a:r>
              <a:rPr lang="en-US" sz="1700" b="1" dirty="0">
                <a:solidFill>
                  <a:schemeClr val="tx1"/>
                </a:solidFill>
              </a:rPr>
              <a:t>Pitch in 3 minutes</a:t>
            </a:r>
            <a:endParaRPr lang="en-US" sz="1700" dirty="0"/>
          </a:p>
        </p:txBody>
      </p:sp>
      <p:sp>
        <p:nvSpPr>
          <p:cNvPr id="18" name="Text 12"/>
          <p:cNvSpPr txBox="1"/>
          <p:nvPr/>
        </p:nvSpPr>
        <p:spPr>
          <a:xfrm>
            <a:off x="1188720" y="3968496"/>
            <a:ext cx="4206240" cy="320040"/>
          </a:xfrm>
          <a:prstGeom prst="rect">
            <a:avLst/>
          </a:prstGeom>
          <a:noFill/>
          <a:ln/>
        </p:spPr>
        <p:txBody>
          <a:bodyPr wrap="square" lIns="0" tIns="0" rIns="0" bIns="0" rtlCol="0" anchor="t"/>
          <a:lstStyle/>
          <a:p>
            <a:pPr indent="0" marL="0">
              <a:buNone/>
            </a:pPr>
            <a:r>
              <a:rPr lang="en-US" sz="1300" dirty="0">
                <a:solidFill>
                  <a:schemeClr val="accent5"/>
                </a:solidFill>
              </a:rPr>
              <a:t>Your 3 key findings + 1 thing the AI got wrong</a:t>
            </a:r>
            <a:endParaRPr lang="en-US" sz="1300" dirty="0"/>
          </a:p>
        </p:txBody>
      </p:sp>
      <p:sp>
        <p:nvSpPr>
          <p:cNvPr id="19" name="time card"/>
          <p:cNvSpPr/>
          <p:nvPr/>
        </p:nvSpPr>
        <p:spPr>
          <a:xfrm>
            <a:off x="5852160" y="1097280"/>
            <a:ext cx="2834640" cy="3291840"/>
          </a:xfrm>
          <a:prstGeom prst="roundRect">
            <a:avLst>
              <a:gd name="adj" fmla="val 3871"/>
            </a:avLst>
          </a:prstGeom>
          <a:solidFill>
            <a:schemeClr val="accent2"/>
          </a:solidFill>
          <a:ln w="12700">
            <a:solidFill>
              <a:schemeClr val="accent2"/>
            </a:solidFill>
            <a:prstDash val="solid"/>
          </a:ln>
        </p:spPr>
      </p:sp>
      <p:sp>
        <p:nvSpPr>
          <p:cNvPr id="20" name="Text 14"/>
          <p:cNvSpPr txBox="1"/>
          <p:nvPr/>
        </p:nvSpPr>
        <p:spPr>
          <a:xfrm>
            <a:off x="5852160" y="1417320"/>
            <a:ext cx="2834640" cy="1371600"/>
          </a:xfrm>
          <a:prstGeom prst="rect">
            <a:avLst/>
          </a:prstGeom>
          <a:noFill/>
          <a:ln/>
        </p:spPr>
        <p:txBody>
          <a:bodyPr wrap="square" lIns="0" tIns="0" rIns="0" bIns="0" rtlCol="0" anchor="t"/>
          <a:lstStyle/>
          <a:p>
            <a:pPr algn="ctr" indent="0" marL="0">
              <a:buNone/>
            </a:pPr>
            <a:r>
              <a:rPr lang="en-US" sz="8800" b="1" dirty="0">
                <a:solidFill>
                  <a:schemeClr val="tx2"/>
                </a:solidFill>
                <a:latin typeface="Bookman Old Style" pitchFamily="34" charset="0"/>
                <a:ea typeface="Bookman Old Style" pitchFamily="34" charset="-122"/>
                <a:cs typeface="Bookman Old Style" pitchFamily="34" charset="-120"/>
              </a:rPr>
              <a:t>50</a:t>
            </a:r>
            <a:endParaRPr lang="en-US" sz="8800" dirty="0"/>
          </a:p>
        </p:txBody>
      </p:sp>
      <p:sp>
        <p:nvSpPr>
          <p:cNvPr id="21" name="Text 15"/>
          <p:cNvSpPr txBox="1"/>
          <p:nvPr/>
        </p:nvSpPr>
        <p:spPr>
          <a:xfrm>
            <a:off x="5852160" y="2834640"/>
            <a:ext cx="2834640" cy="365760"/>
          </a:xfrm>
          <a:prstGeom prst="rect">
            <a:avLst/>
          </a:prstGeom>
          <a:noFill/>
          <a:ln/>
        </p:spPr>
        <p:txBody>
          <a:bodyPr wrap="square" lIns="0" tIns="0" rIns="0" bIns="0" rtlCol="0" anchor="t"/>
          <a:lstStyle/>
          <a:p>
            <a:pPr algn="ctr" indent="0" marL="0">
              <a:buNone/>
            </a:pPr>
            <a:r>
              <a:rPr lang="en-US" sz="1600" b="1" dirty="0">
                <a:solidFill>
                  <a:schemeClr val="tx1"/>
                </a:solidFill>
              </a:rPr>
              <a:t>minutes on the grill</a:t>
            </a:r>
            <a:endParaRPr lang="en-US" sz="1600" dirty="0"/>
          </a:p>
        </p:txBody>
      </p:sp>
      <p:sp>
        <p:nvSpPr>
          <p:cNvPr id="22" name="Text 16"/>
          <p:cNvSpPr txBox="1"/>
          <p:nvPr/>
        </p:nvSpPr>
        <p:spPr>
          <a:xfrm>
            <a:off x="6035040" y="3474720"/>
            <a:ext cx="2468880" cy="548640"/>
          </a:xfrm>
          <a:prstGeom prst="rect">
            <a:avLst/>
          </a:prstGeom>
          <a:noFill/>
          <a:ln/>
        </p:spPr>
        <p:txBody>
          <a:bodyPr wrap="square" lIns="0" tIns="0" rIns="0" bIns="0" rtlCol="0" anchor="t"/>
          <a:lstStyle/>
          <a:p>
            <a:pPr algn="ctr" indent="0" marL="0">
              <a:buNone/>
            </a:pPr>
            <a:r>
              <a:rPr lang="en-US" sz="1200" dirty="0">
                <a:solidFill>
                  <a:schemeClr val="tx1"/>
                </a:solidFill>
              </a:rPr>
              <a:t>Data + brief: participant_pack/</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House rules of the grill</a:t>
            </a:r>
            <a:endParaRPr lang="en-US" sz="2800" dirty="0"/>
          </a:p>
        </p:txBody>
      </p:sp>
      <p:sp>
        <p:nvSpPr>
          <p:cNvPr id="3" name="rule card"/>
          <p:cNvSpPr/>
          <p:nvPr/>
        </p:nvSpPr>
        <p:spPr>
          <a:xfrm>
            <a:off x="457200" y="1097280"/>
            <a:ext cx="4023360" cy="1508760"/>
          </a:xfrm>
          <a:prstGeom prst="roundRect">
            <a:avLst>
              <a:gd name="adj" fmla="val 7273"/>
            </a:avLst>
          </a:prstGeom>
          <a:solidFill>
            <a:schemeClr val="bg2"/>
          </a:solidFill>
          <a:ln w="12700">
            <a:solidFill>
              <a:schemeClr val="bg2"/>
            </a:solidFill>
            <a:prstDash val="solid"/>
          </a:ln>
        </p:spPr>
      </p:sp>
      <p:sp>
        <p:nvSpPr>
          <p:cNvPr id="4" name="icon circle"/>
          <p:cNvSpPr/>
          <p:nvPr/>
        </p:nvSpPr>
        <p:spPr>
          <a:xfrm>
            <a:off x="685800" y="1371600"/>
            <a:ext cx="548640" cy="54864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06501" y="1492301"/>
            <a:ext cx="307238" cy="307238"/>
          </a:xfrm>
          <a:prstGeom prst="rect">
            <a:avLst/>
          </a:prstGeom>
        </p:spPr>
      </p:pic>
      <p:sp>
        <p:nvSpPr>
          <p:cNvPr id="6" name="Text 3"/>
          <p:cNvSpPr txBox="1"/>
          <p:nvPr/>
        </p:nvSpPr>
        <p:spPr>
          <a:xfrm>
            <a:off x="1417320" y="1325880"/>
            <a:ext cx="2880360" cy="457200"/>
          </a:xfrm>
          <a:prstGeom prst="rect">
            <a:avLst/>
          </a:prstGeom>
          <a:noFill/>
          <a:ln/>
        </p:spPr>
        <p:txBody>
          <a:bodyPr wrap="square" lIns="0" tIns="0" rIns="0" bIns="0" rtlCol="0" anchor="ctr"/>
          <a:lstStyle/>
          <a:p>
            <a:pPr indent="0" marL="0">
              <a:buNone/>
            </a:pPr>
            <a:r>
              <a:rPr lang="en-US" sz="1600" b="1" dirty="0">
                <a:solidFill>
                  <a:schemeClr val="tx1"/>
                </a:solidFill>
              </a:rPr>
              <a:t>Let the AI write the code</a:t>
            </a:r>
            <a:endParaRPr lang="en-US" sz="1600" dirty="0"/>
          </a:p>
        </p:txBody>
      </p:sp>
      <p:sp>
        <p:nvSpPr>
          <p:cNvPr id="7" name="Text 4"/>
          <p:cNvSpPr txBox="1"/>
          <p:nvPr/>
        </p:nvSpPr>
        <p:spPr>
          <a:xfrm>
            <a:off x="1417320" y="1828800"/>
            <a:ext cx="2880360" cy="640080"/>
          </a:xfrm>
          <a:prstGeom prst="rect">
            <a:avLst/>
          </a:prstGeom>
          <a:noFill/>
          <a:ln/>
        </p:spPr>
        <p:txBody>
          <a:bodyPr wrap="square" lIns="0" tIns="0" rIns="0" bIns="0" rtlCol="0" anchor="t"/>
          <a:lstStyle/>
          <a:p>
            <a:pPr indent="0" marL="0">
              <a:buNone/>
            </a:pPr>
            <a:r>
              <a:rPr lang="en-US" sz="1300" dirty="0">
                <a:solidFill>
                  <a:schemeClr val="tx1"/>
                </a:solidFill>
              </a:rPr>
              <a:t>The sales file is too big to paste. Ask for code that reads the files.</a:t>
            </a:r>
            <a:endParaRPr lang="en-US" sz="1300" dirty="0"/>
          </a:p>
        </p:txBody>
      </p:sp>
      <p:sp>
        <p:nvSpPr>
          <p:cNvPr id="8" name="rule card"/>
          <p:cNvSpPr/>
          <p:nvPr/>
        </p:nvSpPr>
        <p:spPr>
          <a:xfrm>
            <a:off x="4663440" y="1097280"/>
            <a:ext cx="4023360" cy="1508760"/>
          </a:xfrm>
          <a:prstGeom prst="roundRect">
            <a:avLst>
              <a:gd name="adj" fmla="val 7273"/>
            </a:avLst>
          </a:prstGeom>
          <a:solidFill>
            <a:schemeClr val="bg2"/>
          </a:solidFill>
          <a:ln w="12700">
            <a:solidFill>
              <a:schemeClr val="bg2"/>
            </a:solidFill>
            <a:prstDash val="solid"/>
          </a:ln>
        </p:spPr>
      </p:sp>
      <p:sp>
        <p:nvSpPr>
          <p:cNvPr id="9" name="icon circle"/>
          <p:cNvSpPr/>
          <p:nvPr/>
        </p:nvSpPr>
        <p:spPr>
          <a:xfrm>
            <a:off x="4892040" y="1371600"/>
            <a:ext cx="548640" cy="54864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5012741" y="1492301"/>
            <a:ext cx="307238" cy="307238"/>
          </a:xfrm>
          <a:prstGeom prst="rect">
            <a:avLst/>
          </a:prstGeom>
        </p:spPr>
      </p:pic>
      <p:sp>
        <p:nvSpPr>
          <p:cNvPr id="11" name="Text 7"/>
          <p:cNvSpPr txBox="1"/>
          <p:nvPr/>
        </p:nvSpPr>
        <p:spPr>
          <a:xfrm>
            <a:off x="5623560" y="1325880"/>
            <a:ext cx="2880360" cy="457200"/>
          </a:xfrm>
          <a:prstGeom prst="rect">
            <a:avLst/>
          </a:prstGeom>
          <a:noFill/>
          <a:ln/>
        </p:spPr>
        <p:txBody>
          <a:bodyPr wrap="square" lIns="0" tIns="0" rIns="0" bIns="0" rtlCol="0" anchor="ctr"/>
          <a:lstStyle/>
          <a:p>
            <a:pPr indent="0" marL="0">
              <a:buNone/>
            </a:pPr>
            <a:r>
              <a:rPr lang="en-US" sz="1600" b="1" dirty="0">
                <a:solidFill>
                  <a:schemeClr val="tx1"/>
                </a:solidFill>
              </a:rPr>
              <a:t>Ask: how could this be wrong?</a:t>
            </a:r>
            <a:endParaRPr lang="en-US" sz="1600" dirty="0"/>
          </a:p>
        </p:txBody>
      </p:sp>
      <p:sp>
        <p:nvSpPr>
          <p:cNvPr id="12" name="Text 8"/>
          <p:cNvSpPr txBox="1"/>
          <p:nvPr/>
        </p:nvSpPr>
        <p:spPr>
          <a:xfrm>
            <a:off x="5623560" y="1828800"/>
            <a:ext cx="2880360" cy="640080"/>
          </a:xfrm>
          <a:prstGeom prst="rect">
            <a:avLst/>
          </a:prstGeom>
          <a:noFill/>
          <a:ln/>
        </p:spPr>
        <p:txBody>
          <a:bodyPr wrap="square" lIns="0" tIns="0" rIns="0" bIns="0" rtlCol="0" anchor="t"/>
          <a:lstStyle/>
          <a:p>
            <a:pPr indent="0" marL="0">
              <a:buNone/>
            </a:pPr>
            <a:r>
              <a:rPr lang="en-US" sz="1300" dirty="0">
                <a:solidFill>
                  <a:schemeClr val="tx1"/>
                </a:solidFill>
              </a:rPr>
              <a:t>Check every surprising number yourself before you present it.</a:t>
            </a:r>
            <a:endParaRPr lang="en-US" sz="1300" dirty="0"/>
          </a:p>
        </p:txBody>
      </p:sp>
      <p:sp>
        <p:nvSpPr>
          <p:cNvPr id="13" name="rule card"/>
          <p:cNvSpPr/>
          <p:nvPr/>
        </p:nvSpPr>
        <p:spPr>
          <a:xfrm>
            <a:off x="457200" y="2788920"/>
            <a:ext cx="4023360" cy="1508760"/>
          </a:xfrm>
          <a:prstGeom prst="roundRect">
            <a:avLst>
              <a:gd name="adj" fmla="val 7273"/>
            </a:avLst>
          </a:prstGeom>
          <a:solidFill>
            <a:schemeClr val="bg2"/>
          </a:solidFill>
          <a:ln w="12700">
            <a:solidFill>
              <a:schemeClr val="bg2"/>
            </a:solidFill>
            <a:prstDash val="solid"/>
          </a:ln>
        </p:spPr>
      </p:sp>
      <p:sp>
        <p:nvSpPr>
          <p:cNvPr id="14" name="icon circle"/>
          <p:cNvSpPr/>
          <p:nvPr/>
        </p:nvSpPr>
        <p:spPr>
          <a:xfrm>
            <a:off x="685800" y="3063240"/>
            <a:ext cx="548640" cy="54864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806501" y="3183941"/>
            <a:ext cx="307238" cy="307238"/>
          </a:xfrm>
          <a:prstGeom prst="rect">
            <a:avLst/>
          </a:prstGeom>
        </p:spPr>
      </p:pic>
      <p:sp>
        <p:nvSpPr>
          <p:cNvPr id="16" name="Text 11"/>
          <p:cNvSpPr txBox="1"/>
          <p:nvPr/>
        </p:nvSpPr>
        <p:spPr>
          <a:xfrm>
            <a:off x="1417320" y="3017520"/>
            <a:ext cx="2880360" cy="457200"/>
          </a:xfrm>
          <a:prstGeom prst="rect">
            <a:avLst/>
          </a:prstGeom>
          <a:noFill/>
          <a:ln/>
        </p:spPr>
        <p:txBody>
          <a:bodyPr wrap="square" lIns="0" tIns="0" rIns="0" bIns="0" rtlCol="0" anchor="ctr"/>
          <a:lstStyle/>
          <a:p>
            <a:pPr indent="0" marL="0">
              <a:buNone/>
            </a:pPr>
            <a:r>
              <a:rPr lang="en-US" sz="1600" b="1" dirty="0">
                <a:solidFill>
                  <a:schemeClr val="tx1"/>
                </a:solidFill>
              </a:rPr>
              <a:t>Small bites, not the whole sausage</a:t>
            </a:r>
            <a:endParaRPr lang="en-US" sz="1600" dirty="0"/>
          </a:p>
        </p:txBody>
      </p:sp>
      <p:sp>
        <p:nvSpPr>
          <p:cNvPr id="17" name="Text 12"/>
          <p:cNvSpPr txBox="1"/>
          <p:nvPr/>
        </p:nvSpPr>
        <p:spPr>
          <a:xfrm>
            <a:off x="1417320" y="3520440"/>
            <a:ext cx="2880360" cy="640080"/>
          </a:xfrm>
          <a:prstGeom prst="rect">
            <a:avLst/>
          </a:prstGeom>
          <a:noFill/>
          <a:ln/>
        </p:spPr>
        <p:txBody>
          <a:bodyPr wrap="square" lIns="0" tIns="0" rIns="0" bIns="0" rtlCol="0" anchor="t"/>
          <a:lstStyle/>
          <a:p>
            <a:pPr indent="0" marL="0">
              <a:buNone/>
            </a:pPr>
            <a:r>
              <a:rPr lang="en-US" sz="1300" dirty="0">
                <a:solidFill>
                  <a:schemeClr val="tx1"/>
                </a:solidFill>
              </a:rPr>
              <a:t>One insight, one chart, then the next. Not one giant prompt.</a:t>
            </a:r>
            <a:endParaRPr lang="en-US" sz="1300" dirty="0"/>
          </a:p>
        </p:txBody>
      </p:sp>
      <p:sp>
        <p:nvSpPr>
          <p:cNvPr id="18" name="rule card"/>
          <p:cNvSpPr/>
          <p:nvPr/>
        </p:nvSpPr>
        <p:spPr>
          <a:xfrm>
            <a:off x="4663440" y="2788920"/>
            <a:ext cx="4023360" cy="1508760"/>
          </a:xfrm>
          <a:prstGeom prst="roundRect">
            <a:avLst>
              <a:gd name="adj" fmla="val 7273"/>
            </a:avLst>
          </a:prstGeom>
          <a:solidFill>
            <a:schemeClr val="bg2"/>
          </a:solidFill>
          <a:ln w="12700">
            <a:solidFill>
              <a:schemeClr val="bg2"/>
            </a:solidFill>
            <a:prstDash val="solid"/>
          </a:ln>
        </p:spPr>
      </p:sp>
      <p:sp>
        <p:nvSpPr>
          <p:cNvPr id="19" name="icon circle"/>
          <p:cNvSpPr/>
          <p:nvPr/>
        </p:nvSpPr>
        <p:spPr>
          <a:xfrm>
            <a:off x="4892040" y="3063240"/>
            <a:ext cx="548640" cy="548640"/>
          </a:xfrm>
          <a:prstGeom prst="ellipse">
            <a:avLst/>
          </a:prstGeom>
          <a:solidFill>
            <a:schemeClr val="accent4"/>
          </a:solidFill>
          <a:ln w="12700">
            <a:solidFill>
              <a:schemeClr val="accent4"/>
            </a:solidFill>
            <a:prstDash val="solid"/>
          </a:ln>
        </p:spPr>
      </p:sp>
      <p:pic>
        <p:nvPicPr>
          <p:cNvPr id="20" name="icon" descr="preencoded.png">    </p:cNvPr>
          <p:cNvPicPr>
            <a:picLocks noChangeAspect="1"/>
          </p:cNvPicPr>
          <p:nvPr/>
        </p:nvPicPr>
        <p:blipFill>
          <a:blip r:embed="rId4"/>
          <a:stretch>
            <a:fillRect/>
          </a:stretch>
        </p:blipFill>
        <p:spPr>
          <a:xfrm>
            <a:off x="5012741" y="3183941"/>
            <a:ext cx="307238" cy="307238"/>
          </a:xfrm>
          <a:prstGeom prst="rect">
            <a:avLst/>
          </a:prstGeom>
        </p:spPr>
      </p:pic>
      <p:sp>
        <p:nvSpPr>
          <p:cNvPr id="21" name="Text 15"/>
          <p:cNvSpPr txBox="1"/>
          <p:nvPr/>
        </p:nvSpPr>
        <p:spPr>
          <a:xfrm>
            <a:off x="5623560" y="3017520"/>
            <a:ext cx="2880360" cy="457200"/>
          </a:xfrm>
          <a:prstGeom prst="rect">
            <a:avLst/>
          </a:prstGeom>
          <a:noFill/>
          <a:ln/>
        </p:spPr>
        <p:txBody>
          <a:bodyPr wrap="square" lIns="0" tIns="0" rIns="0" bIns="0" rtlCol="0" anchor="ctr"/>
          <a:lstStyle/>
          <a:p>
            <a:pPr indent="0" marL="0">
              <a:buNone/>
            </a:pPr>
            <a:r>
              <a:rPr lang="en-US" sz="1600" b="1" dirty="0">
                <a:solidFill>
                  <a:schemeClr val="tx1"/>
                </a:solidFill>
              </a:rPr>
              <a:t>Synthetic data: paste freely</a:t>
            </a:r>
            <a:endParaRPr lang="en-US" sz="1600" dirty="0"/>
          </a:p>
        </p:txBody>
      </p:sp>
      <p:sp>
        <p:nvSpPr>
          <p:cNvPr id="22" name="Text 16"/>
          <p:cNvSpPr txBox="1"/>
          <p:nvPr/>
        </p:nvSpPr>
        <p:spPr>
          <a:xfrm>
            <a:off x="5623560" y="3520440"/>
            <a:ext cx="2880360" cy="640080"/>
          </a:xfrm>
          <a:prstGeom prst="rect">
            <a:avLst/>
          </a:prstGeom>
          <a:noFill/>
          <a:ln/>
        </p:spPr>
        <p:txBody>
          <a:bodyPr wrap="square" lIns="0" tIns="0" rIns="0" bIns="0" rtlCol="0" anchor="t"/>
          <a:lstStyle/>
          <a:p>
            <a:pPr indent="0" marL="0">
              <a:buNone/>
            </a:pPr>
            <a:r>
              <a:rPr lang="en-US" sz="1300" dirty="0">
                <a:solidFill>
                  <a:schemeClr val="tx1"/>
                </a:solidFill>
              </a:rPr>
              <a:t>With real Ørsted data, the normal rules apply. Always.</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Points and prizes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3840480" cy="914400"/>
        </p:xfrm>
        <a:graphic>
          <a:graphicData uri="http://schemas.openxmlformats.org/drawingml/2006/table">
            <a:tbl>
              <a:tblPr/>
              <a:tblGrid>
                <a:gridCol w="2834640"/>
                <a:gridCol w="1005840"/>
              </a:tblGrid>
              <a:tr h="438912">
                <a:tc>
                  <a:txBody>
                    <a:bodyPr/>
                    <a:lstStyle/>
                    <a:p>
                      <a:pPr indent="0" marL="0">
                        <a:buNone/>
                      </a:pPr>
                      <a:r>
                        <a:rPr lang="en-US" sz="1400" b="1" dirty="0">
                          <a:solidFill>
                            <a:schemeClr val="bg1"/>
                          </a:solidFill>
                        </a:rPr>
                        <a:t>What you found</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Points</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r>
              <a:tr h="438912">
                <a:tc>
                  <a:txBody>
                    <a:bodyPr/>
                    <a:lstStyle/>
                    <a:p>
                      <a:pPr indent="0" marL="0">
                        <a:buNone/>
                      </a:pPr>
                      <a:r>
                        <a:rPr lang="en-US" sz="1400" dirty="0">
                          <a:solidFill>
                            <a:schemeClr val="tx1"/>
                          </a:solidFill>
                        </a:rPr>
                        <a:t>Easy finding</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438912">
                <a:tc>
                  <a:txBody>
                    <a:bodyPr/>
                    <a:lstStyle/>
                    <a:p>
                      <a:pPr indent="0" marL="0">
                        <a:buNone/>
                      </a:pPr>
                      <a:r>
                        <a:rPr lang="en-US" sz="1400" dirty="0">
                          <a:solidFill>
                            <a:schemeClr val="tx1"/>
                          </a:solidFill>
                        </a:rPr>
                        <a:t>Medium finding</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algn="ctr" indent="0" marL="0">
                        <a:buNone/>
                      </a:pPr>
                      <a:r>
                        <a:rPr lang="en-US" sz="1400" dirty="0">
                          <a:solidFill>
                            <a:schemeClr val="tx1"/>
                          </a:solidFill>
                        </a:rPr>
                        <a:t>2</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438912">
                <a:tc>
                  <a:txBody>
                    <a:bodyPr/>
                    <a:lstStyle/>
                    <a:p>
                      <a:pPr indent="0" marL="0">
                        <a:buNone/>
                      </a:pPr>
                      <a:r>
                        <a:rPr lang="en-US" sz="1400" dirty="0">
                          <a:solidFill>
                            <a:schemeClr val="tx1"/>
                          </a:solidFill>
                        </a:rPr>
                        <a:t>Hard finding</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algn="ctr" indent="0" marL="0">
                        <a:buNone/>
                      </a:pPr>
                      <a:r>
                        <a:rPr lang="en-US" sz="1400" dirty="0">
                          <a:solidFill>
                            <a:schemeClr val="tx1"/>
                          </a:solidFill>
                        </a:rPr>
                        <a:t>3</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438912">
                <a:tc>
                  <a:txBody>
                    <a:bodyPr/>
                    <a:lstStyle/>
                    <a:p>
                      <a:pPr indent="0" marL="0">
                        <a:buNone/>
                      </a:pPr>
                      <a:r>
                        <a:rPr lang="en-US" sz="1400" dirty="0">
                          <a:solidFill>
                            <a:schemeClr val="tx1"/>
                          </a:solidFill>
                        </a:rPr>
                        <a:t>Trap spotted and avoided</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algn="ctr" indent="0" marL="0">
                        <a:buNone/>
                      </a:pPr>
                      <a:r>
                        <a:rPr lang="en-US" sz="1400" dirty="0">
                          <a:solidFill>
                            <a:schemeClr val="tx1"/>
                          </a:solidFill>
                        </a:rPr>
                        <a:t>+2</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438912">
                <a:tc>
                  <a:txBody>
                    <a:bodyPr/>
                    <a:lstStyle/>
                    <a:p>
                      <a:pPr indent="0" marL="0">
                        <a:buNone/>
                      </a:pPr>
                      <a:r>
                        <a:rPr lang="en-US" sz="1400" dirty="0">
                          <a:solidFill>
                            <a:schemeClr val="tx1"/>
                          </a:solidFill>
                        </a:rPr>
                        <a:t>Fell into a trap</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algn="ctr" indent="0" marL="0">
                        <a:buNone/>
                      </a:pPr>
                      <a:r>
                        <a:rPr lang="en-US" sz="1400" dirty="0">
                          <a:solidFill>
                            <a:schemeClr val="tx1"/>
                          </a:solidFill>
                        </a:rPr>
                        <a:t>−1</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bl>
          </a:graphicData>
        </a:graphic>
      </p:graphicFrame>
      <p:sp>
        <p:nvSpPr>
          <p:cNvPr id="4" name="award"/>
          <p:cNvSpPr/>
          <p:nvPr/>
        </p:nvSpPr>
        <p:spPr>
          <a:xfrm>
            <a:off x="4663440" y="1143000"/>
            <a:ext cx="4023360" cy="914400"/>
          </a:xfrm>
          <a:prstGeom prst="roundRect">
            <a:avLst>
              <a:gd name="adj" fmla="val 12000"/>
            </a:avLst>
          </a:prstGeom>
          <a:solidFill>
            <a:schemeClr val="accent2"/>
          </a:solidFill>
          <a:ln w="12700">
            <a:solidFill>
              <a:schemeClr val="accent2"/>
            </a:solidFill>
            <a:prstDash val="solid"/>
          </a:ln>
        </p:spPr>
      </p:sp>
      <p:sp>
        <p:nvSpPr>
          <p:cNvPr id="5" name="icon circle"/>
          <p:cNvSpPr/>
          <p:nvPr/>
        </p:nvSpPr>
        <p:spPr>
          <a:xfrm>
            <a:off x="4846320" y="1325880"/>
            <a:ext cx="548640" cy="548640"/>
          </a:xfrm>
          <a:prstGeom prst="ellipse">
            <a:avLst/>
          </a:prstGeom>
          <a:solidFill>
            <a:schemeClr val="accent1"/>
          </a:solidFill>
          <a:ln w="12700">
            <a:solidFill>
              <a:schemeClr val="accent1"/>
            </a:solidFill>
            <a:prstDash val="solid"/>
          </a:ln>
        </p:spPr>
      </p:sp>
      <p:pic>
        <p:nvPicPr>
          <p:cNvPr id="6" name="icon" descr="preencoded.png">    </p:cNvPr>
          <p:cNvPicPr>
            <a:picLocks noChangeAspect="1"/>
          </p:cNvPicPr>
          <p:nvPr/>
        </p:nvPicPr>
        <p:blipFill>
          <a:blip r:embed="rId1"/>
          <a:stretch>
            <a:fillRect/>
          </a:stretch>
        </p:blipFill>
        <p:spPr>
          <a:xfrm>
            <a:off x="4967021" y="1446581"/>
            <a:ext cx="307238" cy="307238"/>
          </a:xfrm>
          <a:prstGeom prst="rect">
            <a:avLst/>
          </a:prstGeom>
        </p:spPr>
      </p:pic>
      <p:sp>
        <p:nvSpPr>
          <p:cNvPr id="7" name="Text 3"/>
          <p:cNvSpPr txBox="1"/>
          <p:nvPr/>
        </p:nvSpPr>
        <p:spPr>
          <a:xfrm>
            <a:off x="5577840" y="1280160"/>
            <a:ext cx="3017520" cy="365760"/>
          </a:xfrm>
          <a:prstGeom prst="rect">
            <a:avLst/>
          </a:prstGeom>
          <a:noFill/>
          <a:ln/>
        </p:spPr>
        <p:txBody>
          <a:bodyPr wrap="square" lIns="0" tIns="0" rIns="0" bIns="0" rtlCol="0" anchor="t"/>
          <a:lstStyle/>
          <a:p>
            <a:pPr indent="0" marL="0">
              <a:buNone/>
            </a:pPr>
            <a:r>
              <a:rPr lang="en-US" sz="1600" b="1" dirty="0">
                <a:solidFill>
                  <a:schemeClr val="tx1"/>
                </a:solidFill>
              </a:rPr>
              <a:t>The Golden Sausage</a:t>
            </a:r>
            <a:endParaRPr lang="en-US" sz="1600" dirty="0"/>
          </a:p>
        </p:txBody>
      </p:sp>
      <p:sp>
        <p:nvSpPr>
          <p:cNvPr id="8" name="Text 4"/>
          <p:cNvSpPr txBox="1"/>
          <p:nvPr/>
        </p:nvSpPr>
        <p:spPr>
          <a:xfrm>
            <a:off x="5577840" y="1645920"/>
            <a:ext cx="3017520" cy="274320"/>
          </a:xfrm>
          <a:prstGeom prst="rect">
            <a:avLst/>
          </a:prstGeom>
          <a:noFill/>
          <a:ln/>
        </p:spPr>
        <p:txBody>
          <a:bodyPr wrap="square" lIns="0" tIns="0" rIns="0" bIns="0" rtlCol="0" anchor="t"/>
          <a:lstStyle/>
          <a:p>
            <a:pPr indent="0" marL="0">
              <a:buNone/>
            </a:pPr>
            <a:r>
              <a:rPr lang="en-US" sz="1300" dirty="0">
                <a:solidFill>
                  <a:schemeClr val="tx1"/>
                </a:solidFill>
              </a:rPr>
              <a:t>Sharpest insight</a:t>
            </a:r>
            <a:endParaRPr lang="en-US" sz="1300" dirty="0"/>
          </a:p>
        </p:txBody>
      </p:sp>
      <p:sp>
        <p:nvSpPr>
          <p:cNvPr id="9" name="award"/>
          <p:cNvSpPr/>
          <p:nvPr/>
        </p:nvSpPr>
        <p:spPr>
          <a:xfrm>
            <a:off x="4663440" y="2240280"/>
            <a:ext cx="4023360" cy="914400"/>
          </a:xfrm>
          <a:prstGeom prst="roundRect">
            <a:avLst>
              <a:gd name="adj" fmla="val 12000"/>
            </a:avLst>
          </a:prstGeom>
          <a:solidFill>
            <a:schemeClr val="bg2"/>
          </a:solidFill>
          <a:ln w="12700">
            <a:solidFill>
              <a:schemeClr val="bg2"/>
            </a:solidFill>
            <a:prstDash val="solid"/>
          </a:ln>
        </p:spPr>
      </p:sp>
      <p:sp>
        <p:nvSpPr>
          <p:cNvPr id="10" name="icon circle"/>
          <p:cNvSpPr/>
          <p:nvPr/>
        </p:nvSpPr>
        <p:spPr>
          <a:xfrm>
            <a:off x="4846320" y="2423160"/>
            <a:ext cx="548640" cy="548640"/>
          </a:xfrm>
          <a:prstGeom prst="ellipse">
            <a:avLst/>
          </a:prstGeom>
          <a:solidFill>
            <a:schemeClr val="accent1"/>
          </a:solidFill>
          <a:ln w="12700">
            <a:solidFill>
              <a:schemeClr val="accent1"/>
            </a:solidFill>
            <a:prstDash val="solid"/>
          </a:ln>
        </p:spPr>
      </p:sp>
      <p:pic>
        <p:nvPicPr>
          <p:cNvPr id="11" name="icon" descr="preencoded.png">    </p:cNvPr>
          <p:cNvPicPr>
            <a:picLocks noChangeAspect="1"/>
          </p:cNvPicPr>
          <p:nvPr/>
        </p:nvPicPr>
        <p:blipFill>
          <a:blip r:embed="rId2"/>
          <a:stretch>
            <a:fillRect/>
          </a:stretch>
        </p:blipFill>
        <p:spPr>
          <a:xfrm>
            <a:off x="4967021" y="2543861"/>
            <a:ext cx="307238" cy="307238"/>
          </a:xfrm>
          <a:prstGeom prst="rect">
            <a:avLst/>
          </a:prstGeom>
        </p:spPr>
      </p:pic>
      <p:sp>
        <p:nvSpPr>
          <p:cNvPr id="12" name="Text 7"/>
          <p:cNvSpPr txBox="1"/>
          <p:nvPr/>
        </p:nvSpPr>
        <p:spPr>
          <a:xfrm>
            <a:off x="5577840" y="2377440"/>
            <a:ext cx="3017520" cy="365760"/>
          </a:xfrm>
          <a:prstGeom prst="rect">
            <a:avLst/>
          </a:prstGeom>
          <a:noFill/>
          <a:ln/>
        </p:spPr>
        <p:txBody>
          <a:bodyPr wrap="square" lIns="0" tIns="0" rIns="0" bIns="0" rtlCol="0" anchor="t"/>
          <a:lstStyle/>
          <a:p>
            <a:pPr indent="0" marL="0">
              <a:buNone/>
            </a:pPr>
            <a:r>
              <a:rPr lang="en-US" sz="1600" b="1" dirty="0">
                <a:solidFill>
                  <a:schemeClr val="tx1"/>
                </a:solidFill>
              </a:rPr>
              <a:t>Best Dressed Dog</a:t>
            </a:r>
            <a:endParaRPr lang="en-US" sz="1600" dirty="0"/>
          </a:p>
        </p:txBody>
      </p:sp>
      <p:sp>
        <p:nvSpPr>
          <p:cNvPr id="13" name="Text 8"/>
          <p:cNvSpPr txBox="1"/>
          <p:nvPr/>
        </p:nvSpPr>
        <p:spPr>
          <a:xfrm>
            <a:off x="5577840" y="2743200"/>
            <a:ext cx="3017520" cy="274320"/>
          </a:xfrm>
          <a:prstGeom prst="rect">
            <a:avLst/>
          </a:prstGeom>
          <a:noFill/>
          <a:ln/>
        </p:spPr>
        <p:txBody>
          <a:bodyPr wrap="square" lIns="0" tIns="0" rIns="0" bIns="0" rtlCol="0" anchor="t"/>
          <a:lstStyle/>
          <a:p>
            <a:pPr indent="0" marL="0">
              <a:buNone/>
            </a:pPr>
            <a:r>
              <a:rPr lang="en-US" sz="1300" dirty="0">
                <a:solidFill>
                  <a:schemeClr val="tx1"/>
                </a:solidFill>
              </a:rPr>
              <a:t>Prettiest dashboard</a:t>
            </a:r>
            <a:endParaRPr lang="en-US" sz="1300" dirty="0"/>
          </a:p>
        </p:txBody>
      </p:sp>
      <p:sp>
        <p:nvSpPr>
          <p:cNvPr id="14" name="award"/>
          <p:cNvSpPr/>
          <p:nvPr/>
        </p:nvSpPr>
        <p:spPr>
          <a:xfrm>
            <a:off x="4663440" y="3337560"/>
            <a:ext cx="4023360" cy="914400"/>
          </a:xfrm>
          <a:prstGeom prst="roundRect">
            <a:avLst>
              <a:gd name="adj" fmla="val 12000"/>
            </a:avLst>
          </a:prstGeom>
          <a:solidFill>
            <a:schemeClr val="bg2"/>
          </a:solidFill>
          <a:ln w="12700">
            <a:solidFill>
              <a:schemeClr val="bg2"/>
            </a:solidFill>
            <a:prstDash val="solid"/>
          </a:ln>
        </p:spPr>
      </p:sp>
      <p:sp>
        <p:nvSpPr>
          <p:cNvPr id="15" name="icon circle"/>
          <p:cNvSpPr/>
          <p:nvPr/>
        </p:nvSpPr>
        <p:spPr>
          <a:xfrm>
            <a:off x="4846320" y="3520440"/>
            <a:ext cx="548640" cy="54864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3"/>
          <a:stretch>
            <a:fillRect/>
          </a:stretch>
        </p:blipFill>
        <p:spPr>
          <a:xfrm>
            <a:off x="4967021" y="3641141"/>
            <a:ext cx="307238" cy="307238"/>
          </a:xfrm>
          <a:prstGeom prst="rect">
            <a:avLst/>
          </a:prstGeom>
        </p:spPr>
      </p:pic>
      <p:sp>
        <p:nvSpPr>
          <p:cNvPr id="17" name="Text 11"/>
          <p:cNvSpPr txBox="1"/>
          <p:nvPr/>
        </p:nvSpPr>
        <p:spPr>
          <a:xfrm>
            <a:off x="5577840" y="3474720"/>
            <a:ext cx="3017520" cy="365760"/>
          </a:xfrm>
          <a:prstGeom prst="rect">
            <a:avLst/>
          </a:prstGeom>
          <a:noFill/>
          <a:ln/>
        </p:spPr>
        <p:txBody>
          <a:bodyPr wrap="square" lIns="0" tIns="0" rIns="0" bIns="0" rtlCol="0" anchor="t"/>
          <a:lstStyle/>
          <a:p>
            <a:pPr indent="0" marL="0">
              <a:buNone/>
            </a:pPr>
            <a:r>
              <a:rPr lang="en-US" sz="1600" b="1" dirty="0">
                <a:solidFill>
                  <a:schemeClr val="tx1"/>
                </a:solidFill>
              </a:rPr>
              <a:t>Ketchup on the Shirt</a:t>
            </a:r>
            <a:endParaRPr lang="en-US" sz="1600" dirty="0"/>
          </a:p>
        </p:txBody>
      </p:sp>
      <p:sp>
        <p:nvSpPr>
          <p:cNvPr id="18" name="Text 12"/>
          <p:cNvSpPr txBox="1"/>
          <p:nvPr/>
        </p:nvSpPr>
        <p:spPr>
          <a:xfrm>
            <a:off x="5577840" y="3840480"/>
            <a:ext cx="3017520" cy="274320"/>
          </a:xfrm>
          <a:prstGeom prst="rect">
            <a:avLst/>
          </a:prstGeom>
          <a:noFill/>
          <a:ln/>
        </p:spPr>
        <p:txBody>
          <a:bodyPr wrap="square" lIns="0" tIns="0" rIns="0" bIns="0" rtlCol="0" anchor="t"/>
          <a:lstStyle/>
          <a:p>
            <a:pPr indent="0" marL="0">
              <a:buNone/>
            </a:pPr>
            <a:r>
              <a:rPr lang="en-US" sz="1300" dirty="0">
                <a:solidFill>
                  <a:schemeClr val="tx1"/>
                </a:solidFill>
              </a:rPr>
              <a:t>Best AI mistake caught</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1645920"/>
            <a:ext cx="5669280" cy="914400"/>
          </a:xfrm>
          <a:prstGeom prst="rect">
            <a:avLst/>
          </a:prstGeom>
          <a:noFill/>
          <a:ln/>
        </p:spPr>
        <p:txBody>
          <a:bodyPr wrap="square" lIns="0" tIns="0" rIns="0" bIns="0" rtlCol="0" anchor="b"/>
          <a:lstStyle/>
          <a:p>
            <a:pPr algn="l" indent="0" marL="0">
              <a:buNone/>
            </a:pPr>
            <a:r>
              <a:rPr lang="en-US" sz="4000" b="1" dirty="0">
                <a:solidFill>
                  <a:schemeClr val="bg1"/>
                </a:solidFill>
              </a:rPr>
              <a:t>The reveal</a:t>
            </a:r>
            <a:endParaRPr lang="en-US" sz="4000" dirty="0"/>
          </a:p>
        </p:txBody>
      </p:sp>
      <p:sp>
        <p:nvSpPr>
          <p:cNvPr id="3" name="Text 0"/>
          <p:cNvSpPr/>
          <p:nvPr>
            <p:ph idx="101" type="body" hasCustomPrompt="1"/>
          </p:nvPr>
        </p:nvSpPr>
        <p:spPr>
          <a:xfrm>
            <a:off x="548640" y="2697480"/>
            <a:ext cx="5669280" cy="548640"/>
          </a:xfrm>
          <a:prstGeom prst="rect">
            <a:avLst/>
          </a:prstGeom>
          <a:noFill/>
          <a:ln/>
        </p:spPr>
        <p:txBody>
          <a:bodyPr wrap="square" lIns="0" tIns="0" rIns="0" bIns="0" rtlCol="0" anchor="t"/>
          <a:lstStyle/>
          <a:p>
            <a:pPr indent="0" marL="0">
              <a:buNone/>
            </a:pPr>
            <a:r>
              <a:rPr lang="en-US" sz="2000" i="1" dirty="0">
                <a:solidFill>
                  <a:schemeClr val="accent2"/>
                </a:solidFill>
              </a:rPr>
              <a:t>Uwaga, spoiler!  ·  Spoiler-alarm!</a:t>
            </a:r>
            <a:endParaRPr lang="en-US" sz="2000" dirty="0"/>
          </a:p>
        </p:txBody>
      </p:sp>
      <p:pic>
        <p:nvPicPr>
          <p:cNvPr id="4" name="hot dog" descr="preencoded.png">    </p:cNvPr>
          <p:cNvPicPr>
            <a:picLocks noChangeAspect="1"/>
          </p:cNvPicPr>
          <p:nvPr/>
        </p:nvPicPr>
        <p:blipFill>
          <a:blip r:embed="rId1"/>
          <a:stretch>
            <a:fillRect/>
          </a:stretch>
        </p:blipFill>
        <p:spPr>
          <a:xfrm>
            <a:off x="6400800" y="1371600"/>
            <a:ext cx="2194560" cy="21945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Your gut vs the data</a:t>
            </a:r>
            <a:endParaRPr lang="en-US" sz="28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554480"/>
                <a:gridCol w="2377440"/>
                <a:gridCol w="4297680"/>
              </a:tblGrid>
              <a:tr h="411480">
                <a:tc>
                  <a:txBody>
                    <a:bodyPr/>
                    <a:lstStyle/>
                    <a:p>
                      <a:pPr indent="0" marL="0">
                        <a:buNone/>
                      </a:pPr>
                      <a:r>
                        <a:rPr lang="en-US" sz="1400" b="1" dirty="0">
                          <a:solidFill>
                            <a:schemeClr val="bg1"/>
                          </a:solidFill>
                        </a:rPr>
                        <a:t>Question</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Your sticky note</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What the data says</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chemeClr val="tx2"/>
                    </a:solidFill>
                  </a:tcPr>
                </a:tc>
              </a:tr>
              <a:tr h="914400">
                <a:tc>
                  <a:txBody>
                    <a:bodyPr/>
                    <a:lstStyle/>
                    <a:p>
                      <a:pPr indent="0" marL="0">
                        <a:buNone/>
                      </a:pPr>
                      <a:r>
                        <a:rPr lang="en-US" sz="1400" b="1" dirty="0">
                          <a:solidFill>
                            <a:schemeClr val="tx1"/>
                          </a:solidFill>
                        </a:rPr>
                        <a:t>Best stand?</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400" dirty="0">
                          <a:solidFill>
                            <a:schemeClr val="tx1"/>
                          </a:solidFill>
                        </a:rPr>
                        <a:t>W2 Warsaw Central Station, once converted to EUR. Raw numbers say Norreport.</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914400">
                <a:tc>
                  <a:txBody>
                    <a:bodyPr/>
                    <a:lstStyle/>
                    <a:p>
                      <a:pPr indent="0" marL="0">
                        <a:buNone/>
                      </a:pPr>
                      <a:r>
                        <a:rPr lang="en-US" sz="1400" b="1" dirty="0">
                          <a:solidFill>
                            <a:schemeClr val="tx1"/>
                          </a:solidFill>
                        </a:rPr>
                        <a:t>Growing?</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400" dirty="0">
                          <a:solidFill>
                            <a:schemeClr val="tx1"/>
                          </a:solidFill>
                        </a:rPr>
                        <a:t>+10% headline, but only ~+3% like-for-like.</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r h="914400">
                <a:tc>
                  <a:txBody>
                    <a:bodyPr/>
                    <a:lstStyle/>
                    <a:p>
                      <a:pPr indent="0" marL="0">
                        <a:buNone/>
                      </a:pPr>
                      <a:r>
                        <a:rPr lang="en-US" sz="1400" b="1" dirty="0">
                          <a:solidFill>
                            <a:schemeClr val="tx1"/>
                          </a:solidFill>
                        </a:rPr>
                        <a:t>Worry about?</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c>
                  <a:txBody>
                    <a:bodyPr/>
                    <a:lstStyle/>
                    <a:p>
                      <a:pPr indent="0" marL="0">
                        <a:buNone/>
                      </a:pPr>
                      <a:r>
                        <a:rPr lang="en-US" sz="1400" dirty="0">
                          <a:solidFill>
                            <a:schemeClr val="tx1"/>
                          </a:solidFill>
                        </a:rPr>
                        <a:t>Ketchup crisis in Warsaw and missing cash at Christianshavn.</a:t>
                      </a:r>
                      <a:endParaRPr lang="en-US" sz="1400" dirty="0"/>
                    </a:p>
                  </a:txBody>
                  <a:tcPr marL="91440" marR="91440" marT="45720" marB="45720" anchor="ctr">
                    <a:lnL w="6350" cap="flat" cmpd="sng" algn="ctr">
                      <a:solidFill>
                        <a:srgbClr val="E6E1DA"/>
                      </a:solidFill>
                      <a:prstDash val="solid"/>
                      <a:round/>
                      <a:headEnd type="none" w="med" len="med"/>
                      <a:tailEnd type="none" w="med" len="med"/>
                    </a:lnL>
                    <a:lnR w="6350" cap="flat" cmpd="sng" algn="ctr">
                      <a:solidFill>
                        <a:srgbClr val="E6E1DA"/>
                      </a:solidFill>
                      <a:prstDash val="solid"/>
                      <a:round/>
                      <a:headEnd type="none" w="med" len="med"/>
                      <a:tailEnd type="none" w="med" len="med"/>
                    </a:lnR>
                    <a:lnT w="6350" cap="flat" cmpd="sng" algn="ctr">
                      <a:solidFill>
                        <a:srgbClr val="E6E1DA"/>
                      </a:solidFill>
                      <a:prstDash val="solid"/>
                      <a:round/>
                      <a:headEnd type="none" w="med" len="med"/>
                      <a:tailEnd type="none" w="med" len="med"/>
                    </a:lnT>
                    <a:lnB w="6350" cap="flat" cmpd="sng" algn="ctr">
                      <a:solidFill>
                        <a:srgbClr val="E6E1DA"/>
                      </a:solidFill>
                      <a:prstDash val="solid"/>
                      <a:round/>
                      <a:headEnd type="none" w="med" len="med"/>
                      <a:tailEnd type="none" w="med" len="med"/>
                    </a:lnB>
                    <a:solidFill>
                      <a:srgbClr val="FFF3CC"/>
                    </a:solidFill>
                  </a:tcPr>
                </a:tc>
              </a:tr>
            </a:tbl>
          </a:graphicData>
        </a:graphic>
      </p:graphicFrame>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Easy bites</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1 point each</a:t>
            </a:r>
            <a:endParaRPr lang="en-US" sz="1100" dirty="0"/>
          </a:p>
        </p:txBody>
      </p:sp>
      <p:sp>
        <p:nvSpPr>
          <p:cNvPr id="5" name="easy finding"/>
          <p:cNvSpPr/>
          <p:nvPr/>
        </p:nvSpPr>
        <p:spPr>
          <a:xfrm>
            <a:off x="457200" y="1325880"/>
            <a:ext cx="2606040" cy="3108960"/>
          </a:xfrm>
          <a:prstGeom prst="roundRect">
            <a:avLst>
              <a:gd name="adj" fmla="val 4211"/>
            </a:avLst>
          </a:prstGeom>
          <a:solidFill>
            <a:schemeClr val="bg2"/>
          </a:solidFill>
          <a:ln w="12700">
            <a:solidFill>
              <a:schemeClr val="bg2"/>
            </a:solidFill>
            <a:prstDash val="solid"/>
          </a:ln>
        </p:spPr>
      </p:sp>
      <p:sp>
        <p:nvSpPr>
          <p:cNvPr id="6" name="icon circle"/>
          <p:cNvSpPr/>
          <p:nvPr/>
        </p:nvSpPr>
        <p:spPr>
          <a:xfrm>
            <a:off x="685800" y="1508760"/>
            <a:ext cx="548640" cy="54864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806501" y="1629461"/>
            <a:ext cx="307238" cy="307238"/>
          </a:xfrm>
          <a:prstGeom prst="rect">
            <a:avLst/>
          </a:prstGeom>
        </p:spPr>
      </p:pic>
      <p:sp>
        <p:nvSpPr>
          <p:cNvPr id="8" name="Text 5"/>
          <p:cNvSpPr txBox="1"/>
          <p:nvPr/>
        </p:nvSpPr>
        <p:spPr>
          <a:xfrm>
            <a:off x="685800" y="2194560"/>
            <a:ext cx="219456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−43%</a:t>
            </a:r>
            <a:endParaRPr lang="en-US" sz="4400" dirty="0"/>
          </a:p>
        </p:txBody>
      </p:sp>
      <p:sp>
        <p:nvSpPr>
          <p:cNvPr id="9" name="Text 6"/>
          <p:cNvSpPr txBox="1"/>
          <p:nvPr/>
        </p:nvSpPr>
        <p:spPr>
          <a:xfrm>
            <a:off x="685800" y="3017520"/>
            <a:ext cx="2194560" cy="548640"/>
          </a:xfrm>
          <a:prstGeom prst="rect">
            <a:avLst/>
          </a:prstGeom>
          <a:noFill/>
          <a:ln/>
        </p:spPr>
        <p:txBody>
          <a:bodyPr wrap="square" lIns="0" tIns="0" rIns="0" bIns="0" rtlCol="0" anchor="t"/>
          <a:lstStyle/>
          <a:p>
            <a:pPr indent="0" marL="0">
              <a:buNone/>
            </a:pPr>
            <a:r>
              <a:rPr lang="en-US" sz="1500" b="1" dirty="0">
                <a:solidFill>
                  <a:schemeClr val="tx1"/>
                </a:solidFill>
              </a:rPr>
              <a:t>Rain hits open stands</a:t>
            </a:r>
            <a:endParaRPr lang="en-US" sz="1500" dirty="0"/>
          </a:p>
        </p:txBody>
      </p:sp>
      <p:sp>
        <p:nvSpPr>
          <p:cNvPr id="10" name="Text 7"/>
          <p:cNvSpPr txBox="1"/>
          <p:nvPr/>
        </p:nvSpPr>
        <p:spPr>
          <a:xfrm>
            <a:off x="685800" y="3566160"/>
            <a:ext cx="2194560" cy="777240"/>
          </a:xfrm>
          <a:prstGeom prst="rect">
            <a:avLst/>
          </a:prstGeom>
          <a:noFill/>
          <a:ln/>
        </p:spPr>
        <p:txBody>
          <a:bodyPr wrap="square" lIns="0" tIns="0" rIns="0" bIns="0" rtlCol="0" anchor="t"/>
          <a:lstStyle/>
          <a:p>
            <a:pPr indent="0" marL="0">
              <a:buNone/>
            </a:pPr>
            <a:r>
              <a:rPr lang="en-US" sz="1200" dirty="0">
                <a:solidFill>
                  <a:schemeClr val="tx1"/>
                </a:solidFill>
              </a:rPr>
              <a:t>Covered stations only lose 6% on rainy days.</a:t>
            </a:r>
            <a:endParaRPr lang="en-US" sz="1200" dirty="0"/>
          </a:p>
        </p:txBody>
      </p:sp>
      <p:sp>
        <p:nvSpPr>
          <p:cNvPr id="11" name="easy finding"/>
          <p:cNvSpPr/>
          <p:nvPr/>
        </p:nvSpPr>
        <p:spPr>
          <a:xfrm>
            <a:off x="3246120" y="1325880"/>
            <a:ext cx="2606040" cy="3108960"/>
          </a:xfrm>
          <a:prstGeom prst="roundRect">
            <a:avLst>
              <a:gd name="adj" fmla="val 4211"/>
            </a:avLst>
          </a:prstGeom>
          <a:solidFill>
            <a:schemeClr val="bg2"/>
          </a:solidFill>
          <a:ln w="12700">
            <a:solidFill>
              <a:schemeClr val="bg2"/>
            </a:solidFill>
            <a:prstDash val="solid"/>
          </a:ln>
        </p:spPr>
      </p:sp>
      <p:sp>
        <p:nvSpPr>
          <p:cNvPr id="12" name="icon circle"/>
          <p:cNvSpPr/>
          <p:nvPr/>
        </p:nvSpPr>
        <p:spPr>
          <a:xfrm>
            <a:off x="3474720" y="1508760"/>
            <a:ext cx="548640" cy="548640"/>
          </a:xfrm>
          <a:prstGeom prst="ellipse">
            <a:avLst/>
          </a:prstGeom>
          <a:solidFill>
            <a:schemeClr val="accent1"/>
          </a:solidFill>
          <a:ln w="12700">
            <a:solidFill>
              <a:schemeClr val="accent1"/>
            </a:solidFill>
            <a:prstDash val="solid"/>
          </a:ln>
        </p:spPr>
      </p:sp>
      <p:pic>
        <p:nvPicPr>
          <p:cNvPr id="13" name="icon" descr="preencoded.png">    </p:cNvPr>
          <p:cNvPicPr>
            <a:picLocks noChangeAspect="1"/>
          </p:cNvPicPr>
          <p:nvPr/>
        </p:nvPicPr>
        <p:blipFill>
          <a:blip r:embed="rId2"/>
          <a:stretch>
            <a:fillRect/>
          </a:stretch>
        </p:blipFill>
        <p:spPr>
          <a:xfrm>
            <a:off x="3595421" y="1629461"/>
            <a:ext cx="307238" cy="307238"/>
          </a:xfrm>
          <a:prstGeom prst="rect">
            <a:avLst/>
          </a:prstGeom>
        </p:spPr>
      </p:pic>
      <p:sp>
        <p:nvSpPr>
          <p:cNvPr id="14" name="Text 10"/>
          <p:cNvSpPr txBox="1"/>
          <p:nvPr/>
        </p:nvSpPr>
        <p:spPr>
          <a:xfrm>
            <a:off x="3474720" y="2194560"/>
            <a:ext cx="219456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8×</a:t>
            </a:r>
            <a:endParaRPr lang="en-US" sz="4400" dirty="0"/>
          </a:p>
        </p:txBody>
      </p:sp>
      <p:sp>
        <p:nvSpPr>
          <p:cNvPr id="15" name="Text 11"/>
          <p:cNvSpPr txBox="1"/>
          <p:nvPr/>
        </p:nvSpPr>
        <p:spPr>
          <a:xfrm>
            <a:off x="3474720" y="3017520"/>
            <a:ext cx="2194560" cy="548640"/>
          </a:xfrm>
          <a:prstGeom prst="rect">
            <a:avLst/>
          </a:prstGeom>
          <a:noFill/>
          <a:ln/>
        </p:spPr>
        <p:txBody>
          <a:bodyPr wrap="square" lIns="0" tIns="0" rIns="0" bIns="0" rtlCol="0" anchor="t"/>
          <a:lstStyle/>
          <a:p>
            <a:pPr indent="0" marL="0">
              <a:buNone/>
            </a:pPr>
            <a:r>
              <a:rPr lang="en-US" sz="1500" b="1" dirty="0">
                <a:solidFill>
                  <a:schemeClr val="tx1"/>
                </a:solidFill>
              </a:rPr>
              <a:t>Stadium stands live on matches</a:t>
            </a:r>
            <a:endParaRPr lang="en-US" sz="1500" dirty="0"/>
          </a:p>
        </p:txBody>
      </p:sp>
      <p:sp>
        <p:nvSpPr>
          <p:cNvPr id="16" name="Text 12"/>
          <p:cNvSpPr txBox="1"/>
          <p:nvPr/>
        </p:nvSpPr>
        <p:spPr>
          <a:xfrm>
            <a:off x="3474720" y="3566160"/>
            <a:ext cx="2194560" cy="777240"/>
          </a:xfrm>
          <a:prstGeom prst="rect">
            <a:avLst/>
          </a:prstGeom>
          <a:noFill/>
          <a:ln/>
        </p:spPr>
        <p:txBody>
          <a:bodyPr wrap="square" lIns="0" tIns="0" rIns="0" bIns="0" rtlCol="0" anchor="t"/>
          <a:lstStyle/>
          <a:p>
            <a:pPr indent="0" marL="0">
              <a:buNone/>
            </a:pPr>
            <a:r>
              <a:rPr lang="en-US" sz="1200" dirty="0">
                <a:solidFill>
                  <a:schemeClr val="tx1"/>
                </a:solidFill>
              </a:rPr>
              <a:t>C3: 34 units on a normal day, 276 on match days.</a:t>
            </a:r>
            <a:endParaRPr lang="en-US" sz="1200" dirty="0"/>
          </a:p>
        </p:txBody>
      </p:sp>
      <p:sp>
        <p:nvSpPr>
          <p:cNvPr id="17" name="easy finding"/>
          <p:cNvSpPr/>
          <p:nvPr/>
        </p:nvSpPr>
        <p:spPr>
          <a:xfrm>
            <a:off x="6035040" y="1325880"/>
            <a:ext cx="2606040" cy="3108960"/>
          </a:xfrm>
          <a:prstGeom prst="roundRect">
            <a:avLst>
              <a:gd name="adj" fmla="val 4211"/>
            </a:avLst>
          </a:prstGeom>
          <a:solidFill>
            <a:schemeClr val="bg2"/>
          </a:solidFill>
          <a:ln w="12700">
            <a:solidFill>
              <a:schemeClr val="bg2"/>
            </a:solidFill>
            <a:prstDash val="solid"/>
          </a:ln>
        </p:spPr>
      </p:sp>
      <p:sp>
        <p:nvSpPr>
          <p:cNvPr id="18" name="icon circle"/>
          <p:cNvSpPr/>
          <p:nvPr/>
        </p:nvSpPr>
        <p:spPr>
          <a:xfrm>
            <a:off x="6263640" y="1508760"/>
            <a:ext cx="548640" cy="548640"/>
          </a:xfrm>
          <a:prstGeom prst="ellipse">
            <a:avLst/>
          </a:prstGeom>
          <a:solidFill>
            <a:schemeClr val="accent1"/>
          </a:solidFill>
          <a:ln w="12700">
            <a:solidFill>
              <a:schemeClr val="accent1"/>
            </a:solidFill>
            <a:prstDash val="solid"/>
          </a:ln>
        </p:spPr>
      </p:sp>
      <p:pic>
        <p:nvPicPr>
          <p:cNvPr id="19" name="icon" descr="preencoded.png">    </p:cNvPr>
          <p:cNvPicPr>
            <a:picLocks noChangeAspect="1"/>
          </p:cNvPicPr>
          <p:nvPr/>
        </p:nvPicPr>
        <p:blipFill>
          <a:blip r:embed="rId3"/>
          <a:stretch>
            <a:fillRect/>
          </a:stretch>
        </p:blipFill>
        <p:spPr>
          <a:xfrm>
            <a:off x="6384341" y="1629461"/>
            <a:ext cx="307238" cy="307238"/>
          </a:xfrm>
          <a:prstGeom prst="rect">
            <a:avLst/>
          </a:prstGeom>
        </p:spPr>
      </p:pic>
      <p:sp>
        <p:nvSpPr>
          <p:cNvPr id="20" name="Text 15"/>
          <p:cNvSpPr txBox="1"/>
          <p:nvPr/>
        </p:nvSpPr>
        <p:spPr>
          <a:xfrm>
            <a:off x="6263640" y="2194560"/>
            <a:ext cx="2194560" cy="77724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−45%</a:t>
            </a:r>
            <a:endParaRPr lang="en-US" sz="4400" dirty="0"/>
          </a:p>
        </p:txBody>
      </p:sp>
      <p:sp>
        <p:nvSpPr>
          <p:cNvPr id="21" name="Text 16"/>
          <p:cNvSpPr txBox="1"/>
          <p:nvPr/>
        </p:nvSpPr>
        <p:spPr>
          <a:xfrm>
            <a:off x="6263640" y="3017520"/>
            <a:ext cx="2194560" cy="548640"/>
          </a:xfrm>
          <a:prstGeom prst="rect">
            <a:avLst/>
          </a:prstGeom>
          <a:noFill/>
          <a:ln/>
        </p:spPr>
        <p:txBody>
          <a:bodyPr wrap="square" lIns="0" tIns="0" rIns="0" bIns="0" rtlCol="0" anchor="t"/>
          <a:lstStyle/>
          <a:p>
            <a:pPr indent="0" marL="0">
              <a:buNone/>
            </a:pPr>
            <a:r>
              <a:rPr lang="en-US" sz="1500" b="1" dirty="0">
                <a:solidFill>
                  <a:schemeClr val="tx1"/>
                </a:solidFill>
              </a:rPr>
              <a:t>Commuters stay home at weekends</a:t>
            </a:r>
            <a:endParaRPr lang="en-US" sz="1500" dirty="0"/>
          </a:p>
        </p:txBody>
      </p:sp>
      <p:sp>
        <p:nvSpPr>
          <p:cNvPr id="22" name="Text 17"/>
          <p:cNvSpPr txBox="1"/>
          <p:nvPr/>
        </p:nvSpPr>
        <p:spPr>
          <a:xfrm>
            <a:off x="6263640" y="3566160"/>
            <a:ext cx="2194560" cy="777240"/>
          </a:xfrm>
          <a:prstGeom prst="rect">
            <a:avLst/>
          </a:prstGeom>
          <a:noFill/>
          <a:ln/>
        </p:spPr>
        <p:txBody>
          <a:bodyPr wrap="square" lIns="0" tIns="0" rIns="0" bIns="0" rtlCol="0" anchor="t"/>
          <a:lstStyle/>
          <a:p>
            <a:pPr indent="0" marL="0">
              <a:buNone/>
            </a:pPr>
            <a:r>
              <a:rPr lang="en-US" sz="1200" dirty="0">
                <a:solidFill>
                  <a:schemeClr val="tx1"/>
                </a:solidFill>
              </a:rPr>
              <a:t>Stations drop at weekends; city squares peak on Saturday.</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The Warsaw ketchup crisis</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2 points</a:t>
            </a:r>
            <a:endParaRPr lang="en-US" sz="1100" dirty="0"/>
          </a:p>
        </p:txBody>
      </p:sp>
      <p:graphicFrame>
        <p:nvGraphicFramePr>
          <p:cNvPr id="5" name="margin chart" descr=""/>
          <p:cNvGraphicFramePr/>
          <p:nvPr/>
        </p:nvGraphicFramePr>
        <p:xfrm>
          <a:off x="365760" y="1188720"/>
          <a:ext cx="5303520" cy="3383280"/>
        </p:xfrm>
        <a:graphic xmlns:a="http://schemas.openxmlformats.org/drawingml/2006/main">
          <a:graphicData uri="http://schemas.openxmlformats.org/drawingml/2006/chart">
            <c:chart xmlns:c="http://schemas.openxmlformats.org/drawingml/2006/chart" r:id="rId1"/>
          </a:graphicData>
        </a:graphic>
      </p:graphicFrame>
      <p:sp>
        <p:nvSpPr>
          <p:cNvPr id="6" name="ketchup stat"/>
          <p:cNvSpPr/>
          <p:nvPr/>
        </p:nvSpPr>
        <p:spPr>
          <a:xfrm>
            <a:off x="5943600" y="1234440"/>
            <a:ext cx="2743200" cy="1600200"/>
          </a:xfrm>
          <a:prstGeom prst="roundRect">
            <a:avLst>
              <a:gd name="adj" fmla="val 6857"/>
            </a:avLst>
          </a:prstGeom>
          <a:solidFill>
            <a:schemeClr val="accent2"/>
          </a:solidFill>
          <a:ln w="12700">
            <a:solidFill>
              <a:schemeClr val="accent2"/>
            </a:solidFill>
            <a:prstDash val="solid"/>
          </a:ln>
        </p:spPr>
      </p:sp>
      <p:sp>
        <p:nvSpPr>
          <p:cNvPr id="7" name="Text 4"/>
          <p:cNvSpPr txBox="1"/>
          <p:nvPr/>
        </p:nvSpPr>
        <p:spPr>
          <a:xfrm>
            <a:off x="6126480" y="1325880"/>
            <a:ext cx="2377440" cy="731520"/>
          </a:xfrm>
          <a:prstGeom prst="rect">
            <a:avLst/>
          </a:prstGeom>
          <a:noFill/>
          <a:ln/>
        </p:spPr>
        <p:txBody>
          <a:bodyPr wrap="square" lIns="0" tIns="0" rIns="0" bIns="0" rtlCol="0" anchor="t"/>
          <a:lstStyle/>
          <a:p>
            <a:pPr indent="0" marL="0">
              <a:buNone/>
            </a:pPr>
            <a:r>
              <a:rPr lang="en-US" sz="4400" b="1" dirty="0">
                <a:solidFill>
                  <a:schemeClr val="tx2"/>
                </a:solidFill>
                <a:latin typeface="Bookman Old Style" pitchFamily="34" charset="0"/>
                <a:ea typeface="Bookman Old Style" pitchFamily="34" charset="-122"/>
                <a:cs typeface="Bookman Old Style" pitchFamily="34" charset="-120"/>
              </a:rPr>
              <a:t>4.5×</a:t>
            </a:r>
            <a:endParaRPr lang="en-US" sz="4400" dirty="0"/>
          </a:p>
        </p:txBody>
      </p:sp>
      <p:sp>
        <p:nvSpPr>
          <p:cNvPr id="8" name="Text 5"/>
          <p:cNvSpPr txBox="1"/>
          <p:nvPr/>
        </p:nvSpPr>
        <p:spPr>
          <a:xfrm>
            <a:off x="6126480" y="2057400"/>
            <a:ext cx="2377440" cy="685800"/>
          </a:xfrm>
          <a:prstGeom prst="rect">
            <a:avLst/>
          </a:prstGeom>
          <a:noFill/>
          <a:ln/>
        </p:spPr>
        <p:txBody>
          <a:bodyPr wrap="square" lIns="0" tIns="0" rIns="0" bIns="0" rtlCol="0" anchor="t"/>
          <a:lstStyle/>
          <a:p>
            <a:pPr indent="0" marL="0">
              <a:buNone/>
            </a:pPr>
            <a:r>
              <a:rPr lang="en-US" sz="1300" dirty="0">
                <a:solidFill>
                  <a:schemeClr val="tx1"/>
                </a:solidFill>
              </a:rPr>
              <a:t>Warsaw ketchup price from 7 April 2025: 14.8 → 67 PLN/kg</a:t>
            </a:r>
            <a:endParaRPr lang="en-US" sz="1300" dirty="0"/>
          </a:p>
        </p:txBody>
      </p:sp>
      <p:sp>
        <p:nvSpPr>
          <p:cNvPr id="9" name="Text 6"/>
          <p:cNvSpPr txBox="1"/>
          <p:nvPr/>
        </p:nvSpPr>
        <p:spPr>
          <a:xfrm>
            <a:off x="5943600" y="3017520"/>
            <a:ext cx="2743200" cy="146304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Revenue looked fine. Only margin showed it.</a:t>
            </a:r>
            <a:endParaRPr lang="en-US" sz="1300" dirty="0"/>
          </a:p>
          <a:p>
            <a:pPr indent="0" marL="0">
              <a:spcAft>
                <a:spcPts val="600"/>
              </a:spcAft>
              <a:buNone/>
            </a:pPr>
            <a:r>
              <a:rPr lang="en-US" sz="1300" dirty="0">
                <a:solidFill>
                  <a:schemeClr val="tx1"/>
                </a:solidFill>
              </a:rPr>
              <a:t>Zapiekanka margin fell from 70% to 52%.</a:t>
            </a:r>
            <a:endParaRPr lang="en-US" sz="1300" dirty="0"/>
          </a:p>
          <a:p>
            <a:pPr indent="0" marL="0">
              <a:spcAft>
                <a:spcPts val="600"/>
              </a:spcAft>
              <a:buNone/>
            </a:pPr>
            <a:r>
              <a:rPr lang="en-US" sz="1300" dirty="0">
                <a:solidFill>
                  <a:schemeClr val="tx1"/>
                </a:solidFill>
              </a:rPr>
              <a:t>A new supplier fixed it in November.</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The vegan wave</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2 points</a:t>
            </a:r>
            <a:endParaRPr lang="en-US" sz="1100" dirty="0"/>
          </a:p>
        </p:txBody>
      </p:sp>
      <p:graphicFrame>
        <p:nvGraphicFramePr>
          <p:cNvPr id="5" name="vegan chart" descr=""/>
          <p:cNvGraphicFramePr/>
          <p:nvPr/>
        </p:nvGraphicFramePr>
        <p:xfrm>
          <a:off x="365760" y="1188720"/>
          <a:ext cx="5303520" cy="3383280"/>
        </p:xfrm>
        <a:graphic xmlns:a="http://schemas.openxmlformats.org/drawingml/2006/main">
          <a:graphicData uri="http://schemas.openxmlformats.org/drawingml/2006/chart">
            <c:chart xmlns:c="http://schemas.openxmlformats.org/drawingml/2006/chart" r:id="rId1"/>
          </a:graphicData>
        </a:graphic>
      </p:graphicFrame>
      <p:sp>
        <p:nvSpPr>
          <p:cNvPr id="6" name="vegan stat"/>
          <p:cNvSpPr/>
          <p:nvPr/>
        </p:nvSpPr>
        <p:spPr>
          <a:xfrm>
            <a:off x="5943600" y="1234440"/>
            <a:ext cx="2743200" cy="987552"/>
          </a:xfrm>
          <a:prstGeom prst="roundRect">
            <a:avLst>
              <a:gd name="adj" fmla="val 11111"/>
            </a:avLst>
          </a:prstGeom>
          <a:solidFill>
            <a:schemeClr val="accent2"/>
          </a:solidFill>
          <a:ln w="12700">
            <a:solidFill>
              <a:schemeClr val="accent2"/>
            </a:solidFill>
            <a:prstDash val="solid"/>
          </a:ln>
        </p:spPr>
      </p:sp>
      <p:sp>
        <p:nvSpPr>
          <p:cNvPr id="7" name="Text 4"/>
          <p:cNvSpPr txBox="1"/>
          <p:nvPr/>
        </p:nvSpPr>
        <p:spPr>
          <a:xfrm>
            <a:off x="6126480" y="1307592"/>
            <a:ext cx="2377440" cy="457200"/>
          </a:xfrm>
          <a:prstGeom prst="rect">
            <a:avLst/>
          </a:prstGeom>
          <a:noFill/>
          <a:ln/>
        </p:spPr>
        <p:txBody>
          <a:bodyPr wrap="square" lIns="0" tIns="0" rIns="0" bIns="0" rtlCol="0" anchor="t"/>
          <a:lstStyle/>
          <a:p>
            <a:pPr indent="0" marL="0">
              <a:buNone/>
            </a:pPr>
            <a:r>
              <a:rPr lang="en-US" sz="2400" b="1" dirty="0">
                <a:solidFill>
                  <a:schemeClr val="tx2"/>
                </a:solidFill>
                <a:latin typeface="Bookman Old Style" pitchFamily="34" charset="0"/>
                <a:ea typeface="Bookman Old Style" pitchFamily="34" charset="-122"/>
                <a:cs typeface="Bookman Old Style" pitchFamily="34" charset="-120"/>
              </a:rPr>
              <a:t>5% → 16%</a:t>
            </a:r>
            <a:endParaRPr lang="en-US" sz="2400" dirty="0"/>
          </a:p>
        </p:txBody>
      </p:sp>
      <p:sp>
        <p:nvSpPr>
          <p:cNvPr id="8" name="Text 5"/>
          <p:cNvSpPr txBox="1"/>
          <p:nvPr/>
        </p:nvSpPr>
        <p:spPr>
          <a:xfrm>
            <a:off x="6126480" y="1764792"/>
            <a:ext cx="2377440" cy="411480"/>
          </a:xfrm>
          <a:prstGeom prst="rect">
            <a:avLst/>
          </a:prstGeom>
          <a:noFill/>
          <a:ln/>
        </p:spPr>
        <p:txBody>
          <a:bodyPr wrap="square" lIns="0" tIns="0" rIns="0" bIns="0" rtlCol="0" anchor="t"/>
          <a:lstStyle/>
          <a:p>
            <a:pPr indent="0" marL="0">
              <a:buNone/>
            </a:pPr>
            <a:r>
              <a:rPr lang="en-US" sz="1200" dirty="0">
                <a:solidFill>
                  <a:schemeClr val="tx1"/>
                </a:solidFill>
              </a:rPr>
              <a:t>Vegan share in Copenhagen in two years</a:t>
            </a:r>
            <a:endParaRPr lang="en-US" sz="1200" dirty="0"/>
          </a:p>
        </p:txBody>
      </p:sp>
      <p:sp>
        <p:nvSpPr>
          <p:cNvPr id="9" name="vegan stat"/>
          <p:cNvSpPr/>
          <p:nvPr/>
        </p:nvSpPr>
        <p:spPr>
          <a:xfrm>
            <a:off x="5943600" y="2350008"/>
            <a:ext cx="2743200" cy="987552"/>
          </a:xfrm>
          <a:prstGeom prst="roundRect">
            <a:avLst>
              <a:gd name="adj" fmla="val 11111"/>
            </a:avLst>
          </a:prstGeom>
          <a:solidFill>
            <a:schemeClr val="bg2"/>
          </a:solidFill>
          <a:ln w="12700">
            <a:solidFill>
              <a:schemeClr val="bg2"/>
            </a:solidFill>
            <a:prstDash val="solid"/>
          </a:ln>
        </p:spPr>
      </p:sp>
      <p:sp>
        <p:nvSpPr>
          <p:cNvPr id="10" name="Text 7"/>
          <p:cNvSpPr txBox="1"/>
          <p:nvPr/>
        </p:nvSpPr>
        <p:spPr>
          <a:xfrm>
            <a:off x="6126480" y="2423160"/>
            <a:ext cx="2377440" cy="457200"/>
          </a:xfrm>
          <a:prstGeom prst="rect">
            <a:avLst/>
          </a:prstGeom>
          <a:noFill/>
          <a:ln/>
        </p:spPr>
        <p:txBody>
          <a:bodyPr wrap="square" lIns="0" tIns="0" rIns="0" bIns="0" rtlCol="0" anchor="t"/>
          <a:lstStyle/>
          <a:p>
            <a:pPr indent="0" marL="0">
              <a:buNone/>
            </a:pPr>
            <a:r>
              <a:rPr lang="en-US" sz="2400" b="1" dirty="0">
                <a:solidFill>
                  <a:schemeClr val="tx2"/>
                </a:solidFill>
                <a:latin typeface="Bookman Old Style" pitchFamily="34" charset="0"/>
                <a:ea typeface="Bookman Old Style" pitchFamily="34" charset="-122"/>
                <a:cs typeface="Bookman Old Style" pitchFamily="34" charset="-120"/>
              </a:rPr>
              <a:t>½</a:t>
            </a:r>
            <a:endParaRPr lang="en-US" sz="2400" dirty="0"/>
          </a:p>
        </p:txBody>
      </p:sp>
      <p:sp>
        <p:nvSpPr>
          <p:cNvPr id="11" name="Text 8"/>
          <p:cNvSpPr txBox="1"/>
          <p:nvPr/>
        </p:nvSpPr>
        <p:spPr>
          <a:xfrm>
            <a:off x="6126480" y="2880360"/>
            <a:ext cx="2377440" cy="411480"/>
          </a:xfrm>
          <a:prstGeom prst="rect">
            <a:avLst/>
          </a:prstGeom>
          <a:noFill/>
          <a:ln/>
        </p:spPr>
        <p:txBody>
          <a:bodyPr wrap="square" lIns="0" tIns="0" rIns="0" bIns="0" rtlCol="0" anchor="t"/>
          <a:lstStyle/>
          <a:p>
            <a:pPr indent="0" marL="0">
              <a:buNone/>
            </a:pPr>
            <a:r>
              <a:rPr lang="en-US" sz="1200" dirty="0">
                <a:solidFill>
                  <a:schemeClr val="tx1"/>
                </a:solidFill>
              </a:rPr>
              <a:t>Red sausage sales halved: the vegan dog is eating its lunch</a:t>
            </a:r>
            <a:endParaRPr lang="en-US" sz="1200" dirty="0"/>
          </a:p>
        </p:txBody>
      </p:sp>
      <p:sp>
        <p:nvSpPr>
          <p:cNvPr id="12" name="vegan stat"/>
          <p:cNvSpPr/>
          <p:nvPr/>
        </p:nvSpPr>
        <p:spPr>
          <a:xfrm>
            <a:off x="5943600" y="3465576"/>
            <a:ext cx="2743200" cy="987552"/>
          </a:xfrm>
          <a:prstGeom prst="roundRect">
            <a:avLst>
              <a:gd name="adj" fmla="val 11111"/>
            </a:avLst>
          </a:prstGeom>
          <a:solidFill>
            <a:schemeClr val="bg2"/>
          </a:solidFill>
          <a:ln w="12700">
            <a:solidFill>
              <a:schemeClr val="bg2"/>
            </a:solidFill>
            <a:prstDash val="solid"/>
          </a:ln>
        </p:spPr>
      </p:sp>
      <p:sp>
        <p:nvSpPr>
          <p:cNvPr id="13" name="Text 10"/>
          <p:cNvSpPr txBox="1"/>
          <p:nvPr/>
        </p:nvSpPr>
        <p:spPr>
          <a:xfrm>
            <a:off x="6126480" y="3538728"/>
            <a:ext cx="2377440" cy="457200"/>
          </a:xfrm>
          <a:prstGeom prst="rect">
            <a:avLst/>
          </a:prstGeom>
          <a:noFill/>
          <a:ln/>
        </p:spPr>
        <p:txBody>
          <a:bodyPr wrap="square" lIns="0" tIns="0" rIns="0" bIns="0" rtlCol="0" anchor="t"/>
          <a:lstStyle/>
          <a:p>
            <a:pPr indent="0" marL="0">
              <a:buNone/>
            </a:pPr>
            <a:r>
              <a:rPr lang="en-US" sz="2400" b="1" dirty="0">
                <a:solidFill>
                  <a:schemeClr val="tx2"/>
                </a:solidFill>
                <a:latin typeface="Bookman Old Style" pitchFamily="34" charset="0"/>
                <a:ea typeface="Bookman Old Style" pitchFamily="34" charset="-122"/>
                <a:cs typeface="Bookman Old Style" pitchFamily="34" charset="-120"/>
              </a:rPr>
              <a:t>66%</a:t>
            </a:r>
            <a:endParaRPr lang="en-US" sz="2400" dirty="0"/>
          </a:p>
        </p:txBody>
      </p:sp>
      <p:sp>
        <p:nvSpPr>
          <p:cNvPr id="14" name="Text 11"/>
          <p:cNvSpPr txBox="1"/>
          <p:nvPr/>
        </p:nvSpPr>
        <p:spPr>
          <a:xfrm>
            <a:off x="6126480" y="3995928"/>
            <a:ext cx="2377440" cy="411480"/>
          </a:xfrm>
          <a:prstGeom prst="rect">
            <a:avLst/>
          </a:prstGeom>
          <a:noFill/>
          <a:ln/>
        </p:spPr>
        <p:txBody>
          <a:bodyPr wrap="square" lIns="0" tIns="0" rIns="0" bIns="0" rtlCol="0" anchor="t"/>
          <a:lstStyle/>
          <a:p>
            <a:pPr indent="0" marL="0">
              <a:buNone/>
            </a:pPr>
            <a:r>
              <a:rPr lang="en-US" sz="1200" dirty="0">
                <a:solidFill>
                  <a:schemeClr val="tx1"/>
                </a:solidFill>
              </a:rPr>
              <a:t>Vegan margin, lower than the other sausages</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Marathons and Christmas markets</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2 points</a:t>
            </a:r>
            <a:endParaRPr lang="en-US" sz="1100" dirty="0"/>
          </a:p>
        </p:txBody>
      </p:sp>
      <p:sp>
        <p:nvSpPr>
          <p:cNvPr id="5" name="event finding"/>
          <p:cNvSpPr/>
          <p:nvPr/>
        </p:nvSpPr>
        <p:spPr>
          <a:xfrm>
            <a:off x="457200" y="1325880"/>
            <a:ext cx="4023360" cy="3108960"/>
          </a:xfrm>
          <a:prstGeom prst="roundRect">
            <a:avLst>
              <a:gd name="adj" fmla="val 3529"/>
            </a:avLst>
          </a:prstGeom>
          <a:solidFill>
            <a:schemeClr val="bg2"/>
          </a:solidFill>
          <a:ln w="12700">
            <a:solidFill>
              <a:schemeClr val="bg2"/>
            </a:solidFill>
            <a:prstDash val="solid"/>
          </a:ln>
        </p:spPr>
      </p:sp>
      <p:sp>
        <p:nvSpPr>
          <p:cNvPr id="6" name="icon circle"/>
          <p:cNvSpPr/>
          <p:nvPr/>
        </p:nvSpPr>
        <p:spPr>
          <a:xfrm>
            <a:off x="731520" y="1554480"/>
            <a:ext cx="594360" cy="59436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862279" y="1685239"/>
            <a:ext cx="332842" cy="332842"/>
          </a:xfrm>
          <a:prstGeom prst="rect">
            <a:avLst/>
          </a:prstGeom>
        </p:spPr>
      </p:pic>
      <p:sp>
        <p:nvSpPr>
          <p:cNvPr id="8" name="Text 5"/>
          <p:cNvSpPr txBox="1"/>
          <p:nvPr/>
        </p:nvSpPr>
        <p:spPr>
          <a:xfrm>
            <a:off x="1508760" y="1600200"/>
            <a:ext cx="2743200" cy="502920"/>
          </a:xfrm>
          <a:prstGeom prst="rect">
            <a:avLst/>
          </a:prstGeom>
          <a:noFill/>
          <a:ln/>
        </p:spPr>
        <p:txBody>
          <a:bodyPr wrap="square" lIns="0" tIns="0" rIns="0" bIns="0" rtlCol="0" anchor="ctr"/>
          <a:lstStyle/>
          <a:p>
            <a:pPr indent="0" marL="0">
              <a:buNone/>
            </a:pPr>
            <a:r>
              <a:rPr lang="en-US" sz="1800" b="1" dirty="0">
                <a:solidFill>
                  <a:schemeClr val="tx1"/>
                </a:solidFill>
              </a:rPr>
              <a:t>Marathon day</a:t>
            </a:r>
            <a:endParaRPr lang="en-US" sz="1800" dirty="0"/>
          </a:p>
        </p:txBody>
      </p:sp>
      <p:sp>
        <p:nvSpPr>
          <p:cNvPr id="9" name="Text 6"/>
          <p:cNvSpPr txBox="1"/>
          <p:nvPr/>
        </p:nvSpPr>
        <p:spPr>
          <a:xfrm>
            <a:off x="731520" y="2331720"/>
            <a:ext cx="3474720" cy="822960"/>
          </a:xfrm>
          <a:prstGeom prst="rect">
            <a:avLst/>
          </a:prstGeom>
          <a:noFill/>
          <a:ln/>
        </p:spPr>
        <p:txBody>
          <a:bodyPr wrap="square" lIns="0" tIns="0" rIns="0" bIns="0" rtlCol="0" anchor="t"/>
          <a:lstStyle/>
          <a:p>
            <a:pPr indent="0" marL="0">
              <a:buNone/>
            </a:pPr>
            <a:r>
              <a:rPr lang="en-US" sz="4800" b="1" dirty="0">
                <a:solidFill>
                  <a:schemeClr val="tx2"/>
                </a:solidFill>
                <a:latin typeface="Bookman Old Style" pitchFamily="34" charset="0"/>
                <a:ea typeface="Bookman Old Style" pitchFamily="34" charset="-122"/>
                <a:cs typeface="Bookman Old Style" pitchFamily="34" charset="-120"/>
              </a:rPr>
              <a:t>2.5 : 1</a:t>
            </a:r>
            <a:endParaRPr lang="en-US" sz="4800" dirty="0"/>
          </a:p>
        </p:txBody>
      </p:sp>
      <p:sp>
        <p:nvSpPr>
          <p:cNvPr id="10" name="Text 7"/>
          <p:cNvSpPr txBox="1"/>
          <p:nvPr/>
        </p:nvSpPr>
        <p:spPr>
          <a:xfrm>
            <a:off x="731520" y="3154680"/>
            <a:ext cx="3474720" cy="548640"/>
          </a:xfrm>
          <a:prstGeom prst="rect">
            <a:avLst/>
          </a:prstGeom>
          <a:noFill/>
          <a:ln/>
        </p:spPr>
        <p:txBody>
          <a:bodyPr wrap="square" lIns="0" tIns="0" rIns="0" bIns="0" rtlCol="0" anchor="t"/>
          <a:lstStyle/>
          <a:p>
            <a:pPr indent="0" marL="0">
              <a:buNone/>
            </a:pPr>
            <a:r>
              <a:rPr lang="en-US" sz="1400" b="1" dirty="0">
                <a:solidFill>
                  <a:schemeClr val="tx1"/>
                </a:solidFill>
              </a:rPr>
              <a:t>drinks outsold food at City Hall Square and Old Town Square.</a:t>
            </a:r>
            <a:endParaRPr lang="en-US" sz="1400" dirty="0"/>
          </a:p>
        </p:txBody>
      </p:sp>
      <p:sp>
        <p:nvSpPr>
          <p:cNvPr id="11" name="Text 8"/>
          <p:cNvSpPr txBox="1"/>
          <p:nvPr/>
        </p:nvSpPr>
        <p:spPr>
          <a:xfrm>
            <a:off x="731520" y="3703320"/>
            <a:ext cx="3474720" cy="594360"/>
          </a:xfrm>
          <a:prstGeom prst="rect">
            <a:avLst/>
          </a:prstGeom>
          <a:noFill/>
          <a:ln/>
        </p:spPr>
        <p:txBody>
          <a:bodyPr wrap="square" lIns="0" tIns="0" rIns="0" bIns="0" rtlCol="0" anchor="t"/>
          <a:lstStyle/>
          <a:p>
            <a:pPr indent="0" marL="0">
              <a:buNone/>
            </a:pPr>
            <a:r>
              <a:rPr lang="en-US" sz="1300" dirty="0">
                <a:solidFill>
                  <a:schemeClr val="tx1"/>
                </a:solidFill>
              </a:rPr>
              <a:t>Runners and spectators want soda and coffee, not sausages.</a:t>
            </a:r>
            <a:endParaRPr lang="en-US" sz="1300" dirty="0"/>
          </a:p>
        </p:txBody>
      </p:sp>
      <p:sp>
        <p:nvSpPr>
          <p:cNvPr id="12" name="event finding"/>
          <p:cNvSpPr/>
          <p:nvPr/>
        </p:nvSpPr>
        <p:spPr>
          <a:xfrm>
            <a:off x="4663440" y="1325880"/>
            <a:ext cx="4023360" cy="3108960"/>
          </a:xfrm>
          <a:prstGeom prst="roundRect">
            <a:avLst>
              <a:gd name="adj" fmla="val 3529"/>
            </a:avLst>
          </a:prstGeom>
          <a:solidFill>
            <a:schemeClr val="bg2"/>
          </a:solidFill>
          <a:ln w="12700">
            <a:solidFill>
              <a:schemeClr val="bg2"/>
            </a:solidFill>
            <a:prstDash val="solid"/>
          </a:ln>
        </p:spPr>
      </p:sp>
      <p:sp>
        <p:nvSpPr>
          <p:cNvPr id="13" name="icon circle"/>
          <p:cNvSpPr/>
          <p:nvPr/>
        </p:nvSpPr>
        <p:spPr>
          <a:xfrm>
            <a:off x="4937760" y="1554480"/>
            <a:ext cx="594360" cy="594360"/>
          </a:xfrm>
          <a:prstGeom prst="ellipse">
            <a:avLst/>
          </a:prstGeom>
          <a:solidFill>
            <a:schemeClr val="accent4"/>
          </a:solidFill>
          <a:ln w="12700">
            <a:solidFill>
              <a:schemeClr val="accent4"/>
            </a:solidFill>
            <a:prstDash val="solid"/>
          </a:ln>
        </p:spPr>
      </p:sp>
      <p:pic>
        <p:nvPicPr>
          <p:cNvPr id="14" name="icon" descr="preencoded.png">    </p:cNvPr>
          <p:cNvPicPr>
            <a:picLocks noChangeAspect="1"/>
          </p:cNvPicPr>
          <p:nvPr/>
        </p:nvPicPr>
        <p:blipFill>
          <a:blip r:embed="rId2"/>
          <a:stretch>
            <a:fillRect/>
          </a:stretch>
        </p:blipFill>
        <p:spPr>
          <a:xfrm>
            <a:off x="5068519" y="1685239"/>
            <a:ext cx="332842" cy="332842"/>
          </a:xfrm>
          <a:prstGeom prst="rect">
            <a:avLst/>
          </a:prstGeom>
        </p:spPr>
      </p:pic>
      <p:sp>
        <p:nvSpPr>
          <p:cNvPr id="15" name="Text 11"/>
          <p:cNvSpPr txBox="1"/>
          <p:nvPr/>
        </p:nvSpPr>
        <p:spPr>
          <a:xfrm>
            <a:off x="5715000" y="1600200"/>
            <a:ext cx="2743200" cy="502920"/>
          </a:xfrm>
          <a:prstGeom prst="rect">
            <a:avLst/>
          </a:prstGeom>
          <a:noFill/>
          <a:ln/>
        </p:spPr>
        <p:txBody>
          <a:bodyPr wrap="square" lIns="0" tIns="0" rIns="0" bIns="0" rtlCol="0" anchor="ctr"/>
          <a:lstStyle/>
          <a:p>
            <a:pPr indent="0" marL="0">
              <a:buNone/>
            </a:pPr>
            <a:r>
              <a:rPr lang="en-US" sz="1800" b="1" dirty="0">
                <a:solidFill>
                  <a:schemeClr val="tx1"/>
                </a:solidFill>
              </a:rPr>
              <a:t>Christmas market</a:t>
            </a:r>
            <a:endParaRPr lang="en-US" sz="1800" dirty="0"/>
          </a:p>
        </p:txBody>
      </p:sp>
      <p:sp>
        <p:nvSpPr>
          <p:cNvPr id="16" name="Text 12"/>
          <p:cNvSpPr txBox="1"/>
          <p:nvPr/>
        </p:nvSpPr>
        <p:spPr>
          <a:xfrm>
            <a:off x="4937760" y="2331720"/>
            <a:ext cx="3474720" cy="822960"/>
          </a:xfrm>
          <a:prstGeom prst="rect">
            <a:avLst/>
          </a:prstGeom>
          <a:noFill/>
          <a:ln/>
        </p:spPr>
        <p:txBody>
          <a:bodyPr wrap="square" lIns="0" tIns="0" rIns="0" bIns="0" rtlCol="0" anchor="t"/>
          <a:lstStyle/>
          <a:p>
            <a:pPr indent="0" marL="0">
              <a:buNone/>
            </a:pPr>
            <a:r>
              <a:rPr lang="en-US" sz="4800" b="1" dirty="0">
                <a:solidFill>
                  <a:schemeClr val="tx2"/>
                </a:solidFill>
                <a:latin typeface="Bookman Old Style" pitchFamily="34" charset="0"/>
                <a:ea typeface="Bookman Old Style" pitchFamily="34" charset="-122"/>
                <a:cs typeface="Bookman Old Style" pitchFamily="34" charset="-120"/>
              </a:rPr>
              <a:t>+45%</a:t>
            </a:r>
            <a:endParaRPr lang="en-US" sz="4800" dirty="0"/>
          </a:p>
        </p:txBody>
      </p:sp>
      <p:sp>
        <p:nvSpPr>
          <p:cNvPr id="17" name="Text 13"/>
          <p:cNvSpPr txBox="1"/>
          <p:nvPr/>
        </p:nvSpPr>
        <p:spPr>
          <a:xfrm>
            <a:off x="4937760" y="3154680"/>
            <a:ext cx="3474720" cy="548640"/>
          </a:xfrm>
          <a:prstGeom prst="rect">
            <a:avLst/>
          </a:prstGeom>
          <a:noFill/>
          <a:ln/>
        </p:spPr>
        <p:txBody>
          <a:bodyPr wrap="square" lIns="0" tIns="0" rIns="0" bIns="0" rtlCol="0" anchor="t"/>
          <a:lstStyle/>
          <a:p>
            <a:pPr indent="0" marL="0">
              <a:buNone/>
            </a:pPr>
            <a:r>
              <a:rPr lang="en-US" sz="1400" b="1" dirty="0">
                <a:solidFill>
                  <a:schemeClr val="tx1"/>
                </a:solidFill>
              </a:rPr>
              <a:t>more customers at the two city squares from 22 November.</a:t>
            </a:r>
            <a:endParaRPr lang="en-US" sz="1400" dirty="0"/>
          </a:p>
        </p:txBody>
      </p:sp>
      <p:sp>
        <p:nvSpPr>
          <p:cNvPr id="18" name="Text 14"/>
          <p:cNvSpPr txBox="1"/>
          <p:nvPr/>
        </p:nvSpPr>
        <p:spPr>
          <a:xfrm>
            <a:off x="4937760" y="3703320"/>
            <a:ext cx="3474720" cy="594360"/>
          </a:xfrm>
          <a:prstGeom prst="rect">
            <a:avLst/>
          </a:prstGeom>
          <a:noFill/>
          <a:ln/>
        </p:spPr>
        <p:txBody>
          <a:bodyPr wrap="square" lIns="0" tIns="0" rIns="0" bIns="0" rtlCol="0" anchor="t"/>
          <a:lstStyle/>
          <a:p>
            <a:pPr indent="0" marL="0">
              <a:buNone/>
            </a:pPr>
            <a:r>
              <a:rPr lang="en-US" sz="1300" dirty="0">
                <a:solidFill>
                  <a:schemeClr val="tx1"/>
                </a:solidFill>
              </a:rPr>
              <a:t>Chocolate milk sales double and coffee jumps too. Hygge, or przytulność?</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Rick Relish and the missing cash</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3 points</a:t>
            </a:r>
            <a:endParaRPr lang="en-US" sz="1100" dirty="0"/>
          </a:p>
        </p:txBody>
      </p:sp>
      <p:graphicFrame>
        <p:nvGraphicFramePr>
          <p:cNvPr id="5" name="card share chart" descr=""/>
          <p:cNvGraphicFramePr/>
          <p:nvPr/>
        </p:nvGraphicFramePr>
        <p:xfrm>
          <a:off x="365760" y="1188720"/>
          <a:ext cx="5303520" cy="3383280"/>
        </p:xfrm>
        <a:graphic xmlns:a="http://schemas.openxmlformats.org/drawingml/2006/main">
          <a:graphicData uri="http://schemas.openxmlformats.org/drawingml/2006/chart">
            <c:chart xmlns:c="http://schemas.openxmlformats.org/drawingml/2006/chart" r:id="rId1"/>
          </a:graphicData>
        </a:graphic>
      </p:graphicFrame>
      <p:sp>
        <p:nvSpPr>
          <p:cNvPr id="6" name="rick stat"/>
          <p:cNvSpPr/>
          <p:nvPr/>
        </p:nvSpPr>
        <p:spPr>
          <a:xfrm>
            <a:off x="5943600" y="1234440"/>
            <a:ext cx="2743200" cy="1325880"/>
          </a:xfrm>
          <a:prstGeom prst="roundRect">
            <a:avLst>
              <a:gd name="adj" fmla="val 8276"/>
            </a:avLst>
          </a:prstGeom>
          <a:solidFill>
            <a:schemeClr val="tx2"/>
          </a:solidFill>
          <a:ln w="12700">
            <a:solidFill>
              <a:schemeClr val="tx2"/>
            </a:solidFill>
            <a:prstDash val="solid"/>
          </a:ln>
        </p:spPr>
      </p:sp>
      <p:sp>
        <p:nvSpPr>
          <p:cNvPr id="7" name="Text 4"/>
          <p:cNvSpPr txBox="1"/>
          <p:nvPr/>
        </p:nvSpPr>
        <p:spPr>
          <a:xfrm>
            <a:off x="6126480" y="1298448"/>
            <a:ext cx="2377440" cy="685800"/>
          </a:xfrm>
          <a:prstGeom prst="rect">
            <a:avLst/>
          </a:prstGeom>
          <a:noFill/>
          <a:ln/>
        </p:spPr>
        <p:txBody>
          <a:bodyPr wrap="square" lIns="0" tIns="0" rIns="0" bIns="0" rtlCol="0" anchor="t"/>
          <a:lstStyle/>
          <a:p>
            <a:pPr indent="0" marL="0">
              <a:buNone/>
            </a:pPr>
            <a:r>
              <a:rPr lang="en-US" sz="4000" b="1" dirty="0">
                <a:solidFill>
                  <a:schemeClr val="accent2"/>
                </a:solidFill>
                <a:latin typeface="Bookman Old Style" pitchFamily="34" charset="0"/>
                <a:ea typeface="Bookman Old Style" pitchFamily="34" charset="-122"/>
                <a:cs typeface="Bookman Old Style" pitchFamily="34" charset="-120"/>
              </a:rPr>
              <a:t>−57%</a:t>
            </a:r>
            <a:endParaRPr lang="en-US" sz="4000" dirty="0"/>
          </a:p>
        </p:txBody>
      </p:sp>
      <p:sp>
        <p:nvSpPr>
          <p:cNvPr id="8" name="Text 5"/>
          <p:cNvSpPr txBox="1"/>
          <p:nvPr/>
        </p:nvSpPr>
        <p:spPr>
          <a:xfrm>
            <a:off x="6126480" y="1965960"/>
            <a:ext cx="2377440" cy="548640"/>
          </a:xfrm>
          <a:prstGeom prst="rect">
            <a:avLst/>
          </a:prstGeom>
          <a:noFill/>
          <a:ln/>
        </p:spPr>
        <p:txBody>
          <a:bodyPr wrap="square" lIns="0" tIns="0" rIns="0" bIns="0" rtlCol="0" anchor="t"/>
          <a:lstStyle/>
          <a:p>
            <a:pPr indent="0" marL="0">
              <a:buNone/>
            </a:pPr>
            <a:r>
              <a:rPr lang="en-US" sz="1200" dirty="0">
                <a:solidFill>
                  <a:schemeClr val="bg1"/>
                </a:solidFill>
              </a:rPr>
              <a:t>cash sales after the new manager started on 1 March 2025</a:t>
            </a:r>
            <a:endParaRPr lang="en-US" sz="1200" dirty="0"/>
          </a:p>
        </p:txBody>
      </p:sp>
      <p:sp>
        <p:nvSpPr>
          <p:cNvPr id="9" name="Text 6"/>
          <p:cNvSpPr txBox="1"/>
          <p:nvPr/>
        </p:nvSpPr>
        <p:spPr>
          <a:xfrm>
            <a:off x="5943600" y="2697480"/>
            <a:ext cx="2743200" cy="18288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Card sales grew normally (+9%)</a:t>
            </a:r>
            <a:endParaRPr lang="en-US" sz="1200" dirty="0"/>
          </a:p>
          <a:p>
            <a:pPr marL="342900" indent="-342900">
              <a:spcAft>
                <a:spcPts val="400"/>
              </a:spcAft>
              <a:buSzPct val="100000"/>
              <a:buChar char="•"/>
            </a:pPr>
            <a:r>
              <a:rPr lang="en-US" sz="1200" dirty="0">
                <a:solidFill>
                  <a:schemeClr val="tx1"/>
                </a:solidFill>
              </a:rPr>
              <a:t>≈ DKK 380k missing in 10 months</a:t>
            </a:r>
            <a:endParaRPr lang="en-US" sz="1200" dirty="0"/>
          </a:p>
          <a:p>
            <a:pPr marL="342900" indent="-342900">
              <a:spcAft>
                <a:spcPts val="400"/>
              </a:spcAft>
              <a:buSzPct val="100000"/>
              <a:buChar char="•"/>
            </a:pPr>
            <a:r>
              <a:rPr lang="en-US" sz="1200" dirty="0">
                <a:solidFill>
                  <a:schemeClr val="tx1"/>
                </a:solidFill>
              </a:rPr>
              <a:t>Logbook: "Quiet day." in 95% of his notes</a:t>
            </a:r>
            <a:endParaRPr lang="en-US" sz="1200" dirty="0"/>
          </a:p>
          <a:p>
            <a:pPr marL="342900" indent="-342900">
              <a:spcAft>
                <a:spcPts val="400"/>
              </a:spcAft>
              <a:buSzPct val="100000"/>
              <a:buChar char="•"/>
            </a:pPr>
            <a:r>
              <a:rPr lang="en-US" sz="1200" i="1" dirty="0">
                <a:solidFill>
                  <a:schemeClr val="tx1"/>
                </a:solidFill>
              </a:rPr>
              <a:t>"Cash drawer sticky again. Will sort it out myself."</a:t>
            </a:r>
            <a:endParaRPr lang="en-US" sz="12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The two traps</a:t>
            </a:r>
            <a:endParaRPr lang="en-US" sz="2800" dirty="0"/>
          </a:p>
        </p:txBody>
      </p:sp>
      <p:sp>
        <p:nvSpPr>
          <p:cNvPr id="3" name="points tag"/>
          <p:cNvSpPr/>
          <p:nvPr/>
        </p:nvSpPr>
        <p:spPr>
          <a:xfrm>
            <a:off x="7223760" y="896112"/>
            <a:ext cx="1463040" cy="292608"/>
          </a:xfrm>
          <a:prstGeom prst="roundRect">
            <a:avLst>
              <a:gd name="adj" fmla="val 50000"/>
            </a:avLst>
          </a:prstGeom>
          <a:solidFill>
            <a:schemeClr val="accent2"/>
          </a:solidFill>
          <a:ln w="12700">
            <a:solidFill>
              <a:schemeClr val="accent2"/>
            </a:solidFill>
            <a:prstDash val="solid"/>
          </a:ln>
        </p:spPr>
      </p:sp>
      <p:sp>
        <p:nvSpPr>
          <p:cNvPr id="4" name="Text 2"/>
          <p:cNvSpPr txBox="1"/>
          <p:nvPr/>
        </p:nvSpPr>
        <p:spPr>
          <a:xfrm>
            <a:off x="7223760" y="896112"/>
            <a:ext cx="1463040" cy="292608"/>
          </a:xfrm>
          <a:prstGeom prst="rect">
            <a:avLst/>
          </a:prstGeom>
          <a:noFill/>
          <a:ln/>
        </p:spPr>
        <p:txBody>
          <a:bodyPr wrap="square" lIns="0" tIns="0" rIns="0" bIns="0" rtlCol="0" anchor="ctr"/>
          <a:lstStyle/>
          <a:p>
            <a:pPr algn="ctr" indent="0" marL="0">
              <a:buNone/>
            </a:pPr>
            <a:r>
              <a:rPr lang="en-US" sz="1100" b="1" dirty="0">
                <a:solidFill>
                  <a:schemeClr val="tx1"/>
                </a:solidFill>
              </a:rPr>
              <a:t>+2 points each</a:t>
            </a:r>
            <a:endParaRPr lang="en-US" sz="1100" dirty="0"/>
          </a:p>
        </p:txBody>
      </p:sp>
      <p:sp>
        <p:nvSpPr>
          <p:cNvPr id="5" name="trap card"/>
          <p:cNvSpPr/>
          <p:nvPr/>
        </p:nvSpPr>
        <p:spPr>
          <a:xfrm>
            <a:off x="457200" y="1325880"/>
            <a:ext cx="4023360" cy="3108960"/>
          </a:xfrm>
          <a:prstGeom prst="roundRect">
            <a:avLst>
              <a:gd name="adj" fmla="val 3529"/>
            </a:avLst>
          </a:prstGeom>
          <a:solidFill>
            <a:schemeClr val="bg2"/>
          </a:solidFill>
          <a:ln w="12700">
            <a:solidFill>
              <a:schemeClr val="bg2"/>
            </a:solidFill>
            <a:prstDash val="solid"/>
          </a:ln>
        </p:spPr>
      </p:sp>
      <p:sp>
        <p:nvSpPr>
          <p:cNvPr id="6" name="icon circle"/>
          <p:cNvSpPr/>
          <p:nvPr/>
        </p:nvSpPr>
        <p:spPr>
          <a:xfrm>
            <a:off x="731520" y="1508760"/>
            <a:ext cx="548640" cy="54864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852221" y="1629461"/>
            <a:ext cx="307238" cy="307238"/>
          </a:xfrm>
          <a:prstGeom prst="rect">
            <a:avLst/>
          </a:prstGeom>
        </p:spPr>
      </p:pic>
      <p:sp>
        <p:nvSpPr>
          <p:cNvPr id="8" name="Text 5"/>
          <p:cNvSpPr txBox="1"/>
          <p:nvPr/>
        </p:nvSpPr>
        <p:spPr>
          <a:xfrm>
            <a:off x="1463040" y="1536192"/>
            <a:ext cx="2834640" cy="502920"/>
          </a:xfrm>
          <a:prstGeom prst="rect">
            <a:avLst/>
          </a:prstGeom>
          <a:noFill/>
          <a:ln/>
        </p:spPr>
        <p:txBody>
          <a:bodyPr wrap="square" lIns="0" tIns="0" rIns="0" bIns="0" rtlCol="0" anchor="ctr"/>
          <a:lstStyle/>
          <a:p>
            <a:pPr indent="0" marL="0">
              <a:buNone/>
            </a:pPr>
            <a:r>
              <a:rPr lang="en-US" sz="1700" b="1" dirty="0">
                <a:solidFill>
                  <a:schemeClr val="tx1"/>
                </a:solidFill>
              </a:rPr>
              <a:t>Mixing DKK and PLN</a:t>
            </a:r>
            <a:endParaRPr lang="en-US" sz="1700" dirty="0"/>
          </a:p>
        </p:txBody>
      </p:sp>
      <p:sp>
        <p:nvSpPr>
          <p:cNvPr id="9" name="Text 6"/>
          <p:cNvSpPr txBox="1"/>
          <p:nvPr/>
        </p:nvSpPr>
        <p:spPr>
          <a:xfrm>
            <a:off x="731520" y="2240280"/>
            <a:ext cx="1417320" cy="731520"/>
          </a:xfrm>
          <a:prstGeom prst="rect">
            <a:avLst/>
          </a:prstGeom>
          <a:noFill/>
          <a:ln/>
        </p:spPr>
        <p:txBody>
          <a:bodyPr wrap="square" lIns="0" tIns="0" rIns="0" bIns="0" rtlCol="0" anchor="t"/>
          <a:lstStyle/>
          <a:p>
            <a:pPr indent="0" marL="0">
              <a:buNone/>
            </a:pPr>
            <a:r>
              <a:rPr lang="en-US" sz="3200" b="1" strike="sngStrike" dirty="0">
                <a:solidFill>
                  <a:schemeClr val="accent5"/>
                </a:solidFill>
                <a:latin typeface="Bookman Old Style" pitchFamily="34" charset="0"/>
                <a:ea typeface="Bookman Old Style" pitchFamily="34" charset="-122"/>
                <a:cs typeface="Bookman Old Style" pitchFamily="34" charset="-120"/>
              </a:rPr>
              <a:t>68%</a:t>
            </a:r>
            <a:endParaRPr lang="en-US" sz="3200" dirty="0"/>
          </a:p>
        </p:txBody>
      </p:sp>
      <p:sp>
        <p:nvSpPr>
          <p:cNvPr id="10" name="Text 7"/>
          <p:cNvSpPr txBox="1"/>
          <p:nvPr/>
        </p:nvSpPr>
        <p:spPr>
          <a:xfrm>
            <a:off x="2194560" y="2240280"/>
            <a:ext cx="457200" cy="731520"/>
          </a:xfrm>
          <a:prstGeom prst="rect">
            <a:avLst/>
          </a:prstGeom>
          <a:noFill/>
          <a:ln/>
        </p:spPr>
        <p:txBody>
          <a:bodyPr wrap="square" lIns="0" tIns="0" rIns="0" bIns="0" rtlCol="0" anchor="ctr"/>
          <a:lstStyle/>
          <a:p>
            <a:pPr algn="ctr" indent="0" marL="0">
              <a:buNone/>
            </a:pPr>
            <a:r>
              <a:rPr lang="en-US" sz="2800" dirty="0">
                <a:solidFill>
                  <a:schemeClr val="accent5"/>
                </a:solidFill>
              </a:rPr>
              <a:t>→</a:t>
            </a:r>
            <a:endParaRPr lang="en-US" sz="2800" dirty="0"/>
          </a:p>
        </p:txBody>
      </p:sp>
      <p:sp>
        <p:nvSpPr>
          <p:cNvPr id="11" name="Text 8"/>
          <p:cNvSpPr txBox="1"/>
          <p:nvPr/>
        </p:nvSpPr>
        <p:spPr>
          <a:xfrm>
            <a:off x="2743200" y="2240280"/>
            <a:ext cx="1554480" cy="731520"/>
          </a:xfrm>
          <a:prstGeom prst="rect">
            <a:avLst/>
          </a:prstGeom>
          <a:noFill/>
          <a:ln/>
        </p:spPr>
        <p:txBody>
          <a:bodyPr wrap="square" lIns="0" tIns="0" rIns="0" bIns="0" rtlCol="0" anchor="t"/>
          <a:lstStyle/>
          <a:p>
            <a:pPr indent="0" marL="0">
              <a:buNone/>
            </a:pPr>
            <a:r>
              <a:rPr lang="en-US" sz="3600" b="1" dirty="0">
                <a:solidFill>
                  <a:schemeClr val="tx2"/>
                </a:solidFill>
                <a:latin typeface="Bookman Old Style" pitchFamily="34" charset="0"/>
                <a:ea typeface="Bookman Old Style" pitchFamily="34" charset="-122"/>
                <a:cs typeface="Bookman Old Style" pitchFamily="34" charset="-120"/>
              </a:rPr>
              <a:t>55%</a:t>
            </a:r>
            <a:endParaRPr lang="en-US" sz="3600" dirty="0"/>
          </a:p>
        </p:txBody>
      </p:sp>
      <p:sp>
        <p:nvSpPr>
          <p:cNvPr id="12" name="Text 9"/>
          <p:cNvSpPr txBox="1"/>
          <p:nvPr/>
        </p:nvSpPr>
        <p:spPr>
          <a:xfrm>
            <a:off x="731520" y="3063240"/>
            <a:ext cx="3474720" cy="548640"/>
          </a:xfrm>
          <a:prstGeom prst="rect">
            <a:avLst/>
          </a:prstGeom>
          <a:noFill/>
          <a:ln/>
        </p:spPr>
        <p:txBody>
          <a:bodyPr wrap="square" lIns="0" tIns="0" rIns="0" bIns="0" rtlCol="0" anchor="t"/>
          <a:lstStyle/>
          <a:p>
            <a:pPr indent="0" marL="0">
              <a:buNone/>
            </a:pPr>
            <a:r>
              <a:rPr lang="en-US" sz="1300" b="1" dirty="0">
                <a:solidFill>
                  <a:schemeClr val="tx1"/>
                </a:solidFill>
              </a:rPr>
              <a:t>Copenhagen's share of revenue: raw numbers vs converted to EUR</a:t>
            </a:r>
            <a:endParaRPr lang="en-US" sz="1300" dirty="0"/>
          </a:p>
        </p:txBody>
      </p:sp>
      <p:sp>
        <p:nvSpPr>
          <p:cNvPr id="13" name="Text 10"/>
          <p:cNvSpPr txBox="1"/>
          <p:nvPr/>
        </p:nvSpPr>
        <p:spPr>
          <a:xfrm>
            <a:off x="731520" y="3657600"/>
            <a:ext cx="3474720" cy="548640"/>
          </a:xfrm>
          <a:prstGeom prst="rect">
            <a:avLst/>
          </a:prstGeom>
          <a:noFill/>
          <a:ln/>
        </p:spPr>
        <p:txBody>
          <a:bodyPr wrap="square" lIns="0" tIns="0" rIns="0" bIns="0" rtlCol="0" anchor="t"/>
          <a:lstStyle/>
          <a:p>
            <a:pPr indent="0" marL="0">
              <a:buNone/>
            </a:pPr>
            <a:r>
              <a:rPr lang="en-US" sz="1300" dirty="0">
                <a:solidFill>
                  <a:schemeClr val="tx1"/>
                </a:solidFill>
              </a:rPr>
              <a:t>The best stand flips to Warsaw Central Station.</a:t>
            </a:r>
            <a:endParaRPr lang="en-US" sz="1300" dirty="0"/>
          </a:p>
        </p:txBody>
      </p:sp>
      <p:sp>
        <p:nvSpPr>
          <p:cNvPr id="14" name="trap card"/>
          <p:cNvSpPr/>
          <p:nvPr/>
        </p:nvSpPr>
        <p:spPr>
          <a:xfrm>
            <a:off x="4663440" y="1325880"/>
            <a:ext cx="4023360" cy="3108960"/>
          </a:xfrm>
          <a:prstGeom prst="roundRect">
            <a:avLst>
              <a:gd name="adj" fmla="val 3529"/>
            </a:avLst>
          </a:prstGeom>
          <a:solidFill>
            <a:schemeClr val="bg2"/>
          </a:solidFill>
          <a:ln w="12700">
            <a:solidFill>
              <a:schemeClr val="bg2"/>
            </a:solidFill>
            <a:prstDash val="solid"/>
          </a:ln>
        </p:spPr>
      </p:sp>
      <p:sp>
        <p:nvSpPr>
          <p:cNvPr id="15" name="icon circle"/>
          <p:cNvSpPr/>
          <p:nvPr/>
        </p:nvSpPr>
        <p:spPr>
          <a:xfrm>
            <a:off x="4937760" y="1508760"/>
            <a:ext cx="548640" cy="548640"/>
          </a:xfrm>
          <a:prstGeom prst="ellipse">
            <a:avLst/>
          </a:prstGeom>
          <a:solidFill>
            <a:schemeClr val="accent1"/>
          </a:solidFill>
          <a:ln w="12700">
            <a:solidFill>
              <a:schemeClr val="accent1"/>
            </a:solidFill>
            <a:prstDash val="solid"/>
          </a:ln>
        </p:spPr>
      </p:sp>
      <p:pic>
        <p:nvPicPr>
          <p:cNvPr id="16" name="icon" descr="preencoded.png">    </p:cNvPr>
          <p:cNvPicPr>
            <a:picLocks noChangeAspect="1"/>
          </p:cNvPicPr>
          <p:nvPr/>
        </p:nvPicPr>
        <p:blipFill>
          <a:blip r:embed="rId2"/>
          <a:stretch>
            <a:fillRect/>
          </a:stretch>
        </p:blipFill>
        <p:spPr>
          <a:xfrm>
            <a:off x="5058461" y="1629461"/>
            <a:ext cx="307238" cy="307238"/>
          </a:xfrm>
          <a:prstGeom prst="rect">
            <a:avLst/>
          </a:prstGeom>
        </p:spPr>
      </p:pic>
      <p:sp>
        <p:nvSpPr>
          <p:cNvPr id="17" name="Text 13"/>
          <p:cNvSpPr txBox="1"/>
          <p:nvPr/>
        </p:nvSpPr>
        <p:spPr>
          <a:xfrm>
            <a:off x="5669280" y="1536192"/>
            <a:ext cx="2834640" cy="502920"/>
          </a:xfrm>
          <a:prstGeom prst="rect">
            <a:avLst/>
          </a:prstGeom>
          <a:noFill/>
          <a:ln/>
        </p:spPr>
        <p:txBody>
          <a:bodyPr wrap="square" lIns="0" tIns="0" rIns="0" bIns="0" rtlCol="0" anchor="ctr"/>
          <a:lstStyle/>
          <a:p>
            <a:pPr indent="0" marL="0">
              <a:buNone/>
            </a:pPr>
            <a:r>
              <a:rPr lang="en-US" sz="1700" b="1" dirty="0">
                <a:solidFill>
                  <a:schemeClr val="tx1"/>
                </a:solidFill>
              </a:rPr>
              <a:t>Growth from a new stand</a:t>
            </a:r>
            <a:endParaRPr lang="en-US" sz="1700" dirty="0"/>
          </a:p>
        </p:txBody>
      </p:sp>
      <p:sp>
        <p:nvSpPr>
          <p:cNvPr id="18" name="Text 14"/>
          <p:cNvSpPr txBox="1"/>
          <p:nvPr/>
        </p:nvSpPr>
        <p:spPr>
          <a:xfrm>
            <a:off x="4937760" y="2240280"/>
            <a:ext cx="1417320" cy="731520"/>
          </a:xfrm>
          <a:prstGeom prst="rect">
            <a:avLst/>
          </a:prstGeom>
          <a:noFill/>
          <a:ln/>
        </p:spPr>
        <p:txBody>
          <a:bodyPr wrap="square" lIns="0" tIns="0" rIns="0" bIns="0" rtlCol="0" anchor="t"/>
          <a:lstStyle/>
          <a:p>
            <a:pPr indent="0" marL="0">
              <a:buNone/>
            </a:pPr>
            <a:r>
              <a:rPr lang="en-US" sz="3200" b="1" strike="sngStrike" dirty="0">
                <a:solidFill>
                  <a:schemeClr val="accent5"/>
                </a:solidFill>
                <a:latin typeface="Bookman Old Style" pitchFamily="34" charset="0"/>
                <a:ea typeface="Bookman Old Style" pitchFamily="34" charset="-122"/>
                <a:cs typeface="Bookman Old Style" pitchFamily="34" charset="-120"/>
              </a:rPr>
              <a:t>+19%</a:t>
            </a:r>
            <a:endParaRPr lang="en-US" sz="3200" dirty="0"/>
          </a:p>
        </p:txBody>
      </p:sp>
      <p:sp>
        <p:nvSpPr>
          <p:cNvPr id="19" name="Text 15"/>
          <p:cNvSpPr txBox="1"/>
          <p:nvPr/>
        </p:nvSpPr>
        <p:spPr>
          <a:xfrm>
            <a:off x="6400800" y="2240280"/>
            <a:ext cx="457200" cy="731520"/>
          </a:xfrm>
          <a:prstGeom prst="rect">
            <a:avLst/>
          </a:prstGeom>
          <a:noFill/>
          <a:ln/>
        </p:spPr>
        <p:txBody>
          <a:bodyPr wrap="square" lIns="0" tIns="0" rIns="0" bIns="0" rtlCol="0" anchor="ctr"/>
          <a:lstStyle/>
          <a:p>
            <a:pPr algn="ctr" indent="0" marL="0">
              <a:buNone/>
            </a:pPr>
            <a:r>
              <a:rPr lang="en-US" sz="2800" dirty="0">
                <a:solidFill>
                  <a:schemeClr val="accent5"/>
                </a:solidFill>
              </a:rPr>
              <a:t>→</a:t>
            </a:r>
            <a:endParaRPr lang="en-US" sz="2800" dirty="0"/>
          </a:p>
        </p:txBody>
      </p:sp>
      <p:sp>
        <p:nvSpPr>
          <p:cNvPr id="20" name="Text 16"/>
          <p:cNvSpPr txBox="1"/>
          <p:nvPr/>
        </p:nvSpPr>
        <p:spPr>
          <a:xfrm>
            <a:off x="6949440" y="2240280"/>
            <a:ext cx="1554480" cy="731520"/>
          </a:xfrm>
          <a:prstGeom prst="rect">
            <a:avLst/>
          </a:prstGeom>
          <a:noFill/>
          <a:ln/>
        </p:spPr>
        <p:txBody>
          <a:bodyPr wrap="square" lIns="0" tIns="0" rIns="0" bIns="0" rtlCol="0" anchor="t"/>
          <a:lstStyle/>
          <a:p>
            <a:pPr indent="0" marL="0">
              <a:buNone/>
            </a:pPr>
            <a:r>
              <a:rPr lang="en-US" sz="3600" b="1" dirty="0">
                <a:solidFill>
                  <a:schemeClr val="tx2"/>
                </a:solidFill>
                <a:latin typeface="Bookman Old Style" pitchFamily="34" charset="0"/>
                <a:ea typeface="Bookman Old Style" pitchFamily="34" charset="-122"/>
                <a:cs typeface="Bookman Old Style" pitchFamily="34" charset="-120"/>
              </a:rPr>
              <a:t>+3%</a:t>
            </a:r>
            <a:endParaRPr lang="en-US" sz="3600" dirty="0"/>
          </a:p>
        </p:txBody>
      </p:sp>
      <p:sp>
        <p:nvSpPr>
          <p:cNvPr id="21" name="Text 17"/>
          <p:cNvSpPr txBox="1"/>
          <p:nvPr/>
        </p:nvSpPr>
        <p:spPr>
          <a:xfrm>
            <a:off x="4937760" y="3063240"/>
            <a:ext cx="3474720" cy="548640"/>
          </a:xfrm>
          <a:prstGeom prst="rect">
            <a:avLst/>
          </a:prstGeom>
          <a:noFill/>
          <a:ln/>
        </p:spPr>
        <p:txBody>
          <a:bodyPr wrap="square" lIns="0" tIns="0" rIns="0" bIns="0" rtlCol="0" anchor="t"/>
          <a:lstStyle/>
          <a:p>
            <a:pPr indent="0" marL="0">
              <a:buNone/>
            </a:pPr>
            <a:r>
              <a:rPr lang="en-US" sz="1300" b="1" dirty="0">
                <a:solidFill>
                  <a:schemeClr val="tx1"/>
                </a:solidFill>
              </a:rPr>
              <a:t>Warsaw growth in 2025: headline vs like-for-like</a:t>
            </a:r>
            <a:endParaRPr lang="en-US" sz="1300" dirty="0"/>
          </a:p>
        </p:txBody>
      </p:sp>
      <p:sp>
        <p:nvSpPr>
          <p:cNvPr id="22" name="Text 18"/>
          <p:cNvSpPr txBox="1"/>
          <p:nvPr/>
        </p:nvSpPr>
        <p:spPr>
          <a:xfrm>
            <a:off x="4937760" y="3657600"/>
            <a:ext cx="3474720" cy="548640"/>
          </a:xfrm>
          <a:prstGeom prst="rect">
            <a:avLst/>
          </a:prstGeom>
          <a:noFill/>
          <a:ln/>
        </p:spPr>
        <p:txBody>
          <a:bodyPr wrap="square" lIns="0" tIns="0" rIns="0" bIns="0" rtlCol="0" anchor="t"/>
          <a:lstStyle/>
          <a:p>
            <a:pPr indent="0" marL="0">
              <a:buNone/>
            </a:pPr>
            <a:r>
              <a:rPr lang="en-US" sz="1300" dirty="0">
                <a:solidFill>
                  <a:schemeClr val="tx1"/>
                </a:solidFill>
              </a:rPr>
              <a:t>Vistula Riverside only opened in May 2025.</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We let two AIs go first</a:t>
            </a:r>
            <a:endParaRPr lang="en-US" sz="2800" dirty="0"/>
          </a:p>
        </p:txBody>
      </p:sp>
      <p:sp>
        <p:nvSpPr>
          <p:cNvPr id="3" name="ai result"/>
          <p:cNvSpPr/>
          <p:nvPr/>
        </p:nvSpPr>
        <p:spPr>
          <a:xfrm>
            <a:off x="457200" y="1143000"/>
            <a:ext cx="4023360" cy="3337560"/>
          </a:xfrm>
          <a:prstGeom prst="roundRect">
            <a:avLst>
              <a:gd name="adj" fmla="val 3288"/>
            </a:avLst>
          </a:prstGeom>
          <a:solidFill>
            <a:schemeClr val="bg2"/>
          </a:solidFill>
          <a:ln w="12700">
            <a:solidFill>
              <a:schemeClr val="bg2"/>
            </a:solidFill>
            <a:prstDash val="solid"/>
          </a:ln>
        </p:spPr>
      </p:sp>
      <p:sp>
        <p:nvSpPr>
          <p:cNvPr id="4" name="icon circle"/>
          <p:cNvSpPr/>
          <p:nvPr/>
        </p:nvSpPr>
        <p:spPr>
          <a:xfrm>
            <a:off x="731520" y="1325880"/>
            <a:ext cx="548640" cy="548640"/>
          </a:xfrm>
          <a:prstGeom prst="ellipse">
            <a:avLst/>
          </a:prstGeom>
          <a:solidFill>
            <a:schemeClr val="accent5"/>
          </a:solidFill>
          <a:ln w="12700">
            <a:solidFill>
              <a:schemeClr val="accent5"/>
            </a:solidFill>
            <a:prstDash val="solid"/>
          </a:ln>
        </p:spPr>
      </p:sp>
      <p:pic>
        <p:nvPicPr>
          <p:cNvPr id="5" name="icon" descr="preencoded.png">    </p:cNvPr>
          <p:cNvPicPr>
            <a:picLocks noChangeAspect="1"/>
          </p:cNvPicPr>
          <p:nvPr/>
        </p:nvPicPr>
        <p:blipFill>
          <a:blip r:embed="rId1"/>
          <a:stretch>
            <a:fillRect/>
          </a:stretch>
        </p:blipFill>
        <p:spPr>
          <a:xfrm>
            <a:off x="852221" y="1446581"/>
            <a:ext cx="307238" cy="307238"/>
          </a:xfrm>
          <a:prstGeom prst="rect">
            <a:avLst/>
          </a:prstGeom>
        </p:spPr>
      </p:pic>
      <p:sp>
        <p:nvSpPr>
          <p:cNvPr id="6" name="Text 3"/>
          <p:cNvSpPr txBox="1"/>
          <p:nvPr/>
        </p:nvSpPr>
        <p:spPr>
          <a:xfrm>
            <a:off x="1463040" y="1353312"/>
            <a:ext cx="2834640" cy="502920"/>
          </a:xfrm>
          <a:prstGeom prst="rect">
            <a:avLst/>
          </a:prstGeom>
          <a:noFill/>
          <a:ln/>
        </p:spPr>
        <p:txBody>
          <a:bodyPr wrap="square" lIns="0" tIns="0" rIns="0" bIns="0" rtlCol="0" anchor="ctr"/>
          <a:lstStyle/>
          <a:p>
            <a:pPr indent="0" marL="0">
              <a:buNone/>
            </a:pPr>
            <a:r>
              <a:rPr lang="en-US" sz="1800" b="1" dirty="0">
                <a:solidFill>
                  <a:schemeClr val="tx1"/>
                </a:solidFill>
              </a:rPr>
              <a:t>Claude Haiku</a:t>
            </a:r>
            <a:endParaRPr lang="en-US" sz="1800" dirty="0"/>
          </a:p>
        </p:txBody>
      </p:sp>
      <p:sp>
        <p:nvSpPr>
          <p:cNvPr id="7" name="Text 4"/>
          <p:cNvSpPr txBox="1"/>
          <p:nvPr/>
        </p:nvSpPr>
        <p:spPr>
          <a:xfrm>
            <a:off x="731520" y="1920240"/>
            <a:ext cx="3474720" cy="685800"/>
          </a:xfrm>
          <a:prstGeom prst="rect">
            <a:avLst/>
          </a:prstGeom>
          <a:noFill/>
          <a:ln/>
        </p:spPr>
        <p:txBody>
          <a:bodyPr wrap="square" lIns="0" tIns="0" rIns="0" bIns="0" rtlCol="0" anchor="t"/>
          <a:lstStyle/>
          <a:p>
            <a:pPr indent="0" marL="0">
              <a:buNone/>
            </a:pPr>
            <a:r>
              <a:rPr lang="en-US" sz="4000" b="1" dirty="0">
                <a:solidFill>
                  <a:schemeClr val="tx2"/>
                </a:solidFill>
                <a:latin typeface="Bookman Old Style" pitchFamily="34" charset="0"/>
                <a:ea typeface="Bookman Old Style" pitchFamily="34" charset="-122"/>
                <a:cs typeface="Bookman Old Style" pitchFamily="34" charset="-120"/>
              </a:rPr>
              <a:t>3 / 16</a:t>
            </a:r>
            <a:endParaRPr lang="en-US" sz="4000" dirty="0"/>
          </a:p>
        </p:txBody>
      </p:sp>
      <p:sp>
        <p:nvSpPr>
          <p:cNvPr id="8" name="Text 5"/>
          <p:cNvSpPr txBox="1"/>
          <p:nvPr/>
        </p:nvSpPr>
        <p:spPr>
          <a:xfrm>
            <a:off x="731520" y="2606040"/>
            <a:ext cx="3474720" cy="274320"/>
          </a:xfrm>
          <a:prstGeom prst="rect">
            <a:avLst/>
          </a:prstGeom>
          <a:noFill/>
          <a:ln/>
        </p:spPr>
        <p:txBody>
          <a:bodyPr wrap="square" lIns="0" tIns="0" rIns="0" bIns="0" rtlCol="0" anchor="t"/>
          <a:lstStyle/>
          <a:p>
            <a:pPr indent="0" marL="0">
              <a:buNone/>
            </a:pPr>
            <a:r>
              <a:rPr lang="en-US" sz="1200" dirty="0">
                <a:solidFill>
                  <a:schemeClr val="accent5"/>
                </a:solidFill>
              </a:rPr>
              <a:t>points in ~3 minutes</a:t>
            </a:r>
            <a:endParaRPr lang="en-US" sz="1200" dirty="0"/>
          </a:p>
        </p:txBody>
      </p:sp>
      <p:sp>
        <p:nvSpPr>
          <p:cNvPr id="9" name="Text 6"/>
          <p:cNvSpPr txBox="1"/>
          <p:nvPr/>
        </p:nvSpPr>
        <p:spPr>
          <a:xfrm>
            <a:off x="731520" y="3017520"/>
            <a:ext cx="356616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Missed the cash story completely</a:t>
            </a:r>
            <a:endParaRPr lang="en-US" sz="1300" dirty="0"/>
          </a:p>
          <a:p>
            <a:pPr marL="342900" indent="-342900">
              <a:spcAft>
                <a:spcPts val="500"/>
              </a:spcAft>
              <a:buSzPct val="100000"/>
              <a:buChar char="•"/>
            </a:pPr>
            <a:r>
              <a:rPr lang="en-US" sz="1300" dirty="0">
                <a:solidFill>
                  <a:schemeClr val="tx1"/>
                </a:solidFill>
              </a:rPr>
              <a:t>Told the CEO to consider closing the new stand: wrong diagnosis</a:t>
            </a:r>
            <a:endParaRPr lang="en-US" sz="1300" dirty="0"/>
          </a:p>
          <a:p>
            <a:pPr marL="342900" indent="-342900">
              <a:spcAft>
                <a:spcPts val="500"/>
              </a:spcAft>
              <a:buSzPct val="100000"/>
              <a:buChar char="•"/>
            </a:pPr>
            <a:r>
              <a:rPr lang="en-US" sz="1300" dirty="0">
                <a:solidFill>
                  <a:schemeClr val="tx1"/>
                </a:solidFill>
              </a:rPr>
              <a:t>Called its own work "production-ready"</a:t>
            </a:r>
            <a:endParaRPr lang="en-US" sz="1300" dirty="0"/>
          </a:p>
        </p:txBody>
      </p:sp>
      <p:sp>
        <p:nvSpPr>
          <p:cNvPr id="10" name="ai result"/>
          <p:cNvSpPr/>
          <p:nvPr/>
        </p:nvSpPr>
        <p:spPr>
          <a:xfrm>
            <a:off x="4663440" y="1143000"/>
            <a:ext cx="4023360" cy="3337560"/>
          </a:xfrm>
          <a:prstGeom prst="roundRect">
            <a:avLst>
              <a:gd name="adj" fmla="val 3288"/>
            </a:avLst>
          </a:prstGeom>
          <a:solidFill>
            <a:schemeClr val="bg2"/>
          </a:solidFill>
          <a:ln w="12700">
            <a:solidFill>
              <a:schemeClr val="bg2"/>
            </a:solidFill>
            <a:prstDash val="solid"/>
          </a:ln>
        </p:spPr>
      </p:sp>
      <p:sp>
        <p:nvSpPr>
          <p:cNvPr id="11" name="icon circle"/>
          <p:cNvSpPr/>
          <p:nvPr/>
        </p:nvSpPr>
        <p:spPr>
          <a:xfrm>
            <a:off x="4937760" y="1325880"/>
            <a:ext cx="548640" cy="548640"/>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2"/>
          <a:stretch>
            <a:fillRect/>
          </a:stretch>
        </p:blipFill>
        <p:spPr>
          <a:xfrm>
            <a:off x="5058461" y="1446581"/>
            <a:ext cx="307238" cy="307238"/>
          </a:xfrm>
          <a:prstGeom prst="rect">
            <a:avLst/>
          </a:prstGeom>
        </p:spPr>
      </p:pic>
      <p:sp>
        <p:nvSpPr>
          <p:cNvPr id="13" name="Text 9"/>
          <p:cNvSpPr txBox="1"/>
          <p:nvPr/>
        </p:nvSpPr>
        <p:spPr>
          <a:xfrm>
            <a:off x="5669280" y="1353312"/>
            <a:ext cx="2834640" cy="502920"/>
          </a:xfrm>
          <a:prstGeom prst="rect">
            <a:avLst/>
          </a:prstGeom>
          <a:noFill/>
          <a:ln/>
        </p:spPr>
        <p:txBody>
          <a:bodyPr wrap="square" lIns="0" tIns="0" rIns="0" bIns="0" rtlCol="0" anchor="ctr"/>
          <a:lstStyle/>
          <a:p>
            <a:pPr indent="0" marL="0">
              <a:buNone/>
            </a:pPr>
            <a:r>
              <a:rPr lang="en-US" sz="1800" b="1" dirty="0">
                <a:solidFill>
                  <a:schemeClr val="tx1"/>
                </a:solidFill>
              </a:rPr>
              <a:t>Claude Sonnet</a:t>
            </a:r>
            <a:endParaRPr lang="en-US" sz="1800" dirty="0"/>
          </a:p>
        </p:txBody>
      </p:sp>
      <p:sp>
        <p:nvSpPr>
          <p:cNvPr id="14" name="Text 10"/>
          <p:cNvSpPr txBox="1"/>
          <p:nvPr/>
        </p:nvSpPr>
        <p:spPr>
          <a:xfrm>
            <a:off x="4937760" y="1920240"/>
            <a:ext cx="3474720" cy="685800"/>
          </a:xfrm>
          <a:prstGeom prst="rect">
            <a:avLst/>
          </a:prstGeom>
          <a:noFill/>
          <a:ln/>
        </p:spPr>
        <p:txBody>
          <a:bodyPr wrap="square" lIns="0" tIns="0" rIns="0" bIns="0" rtlCol="0" anchor="t"/>
          <a:lstStyle/>
          <a:p>
            <a:pPr indent="0" marL="0">
              <a:buNone/>
            </a:pPr>
            <a:r>
              <a:rPr lang="en-US" sz="4000" b="1" dirty="0">
                <a:solidFill>
                  <a:schemeClr val="tx2"/>
                </a:solidFill>
                <a:latin typeface="Bookman Old Style" pitchFamily="34" charset="0"/>
                <a:ea typeface="Bookman Old Style" pitchFamily="34" charset="-122"/>
                <a:cs typeface="Bookman Old Style" pitchFamily="34" charset="-120"/>
              </a:rPr>
              <a:t>15 / 16</a:t>
            </a:r>
            <a:endParaRPr lang="en-US" sz="4000" dirty="0"/>
          </a:p>
        </p:txBody>
      </p:sp>
      <p:sp>
        <p:nvSpPr>
          <p:cNvPr id="15" name="Text 11"/>
          <p:cNvSpPr txBox="1"/>
          <p:nvPr/>
        </p:nvSpPr>
        <p:spPr>
          <a:xfrm>
            <a:off x="4937760" y="2606040"/>
            <a:ext cx="3474720" cy="274320"/>
          </a:xfrm>
          <a:prstGeom prst="rect">
            <a:avLst/>
          </a:prstGeom>
          <a:noFill/>
          <a:ln/>
        </p:spPr>
        <p:txBody>
          <a:bodyPr wrap="square" lIns="0" tIns="0" rIns="0" bIns="0" rtlCol="0" anchor="t"/>
          <a:lstStyle/>
          <a:p>
            <a:pPr indent="0" marL="0">
              <a:buNone/>
            </a:pPr>
            <a:r>
              <a:rPr lang="en-US" sz="1200" dirty="0">
                <a:solidFill>
                  <a:schemeClr val="accent5"/>
                </a:solidFill>
              </a:rPr>
              <a:t>points in ~4 minutes</a:t>
            </a:r>
            <a:endParaRPr lang="en-US" sz="1200" dirty="0"/>
          </a:p>
        </p:txBody>
      </p:sp>
      <p:sp>
        <p:nvSpPr>
          <p:cNvPr id="16" name="Text 12"/>
          <p:cNvSpPr txBox="1"/>
          <p:nvPr/>
        </p:nvSpPr>
        <p:spPr>
          <a:xfrm>
            <a:off x="4937760" y="3017520"/>
            <a:ext cx="3566160" cy="13716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Found the cash story and avoided both traps</a:t>
            </a:r>
            <a:endParaRPr lang="en-US" sz="1300" dirty="0"/>
          </a:p>
          <a:p>
            <a:pPr marL="342900" indent="-342900">
              <a:spcAft>
                <a:spcPts val="500"/>
              </a:spcAft>
              <a:buSzPct val="100000"/>
              <a:buChar char="•"/>
            </a:pPr>
            <a:r>
              <a:rPr lang="en-US" sz="1300" dirty="0">
                <a:solidFill>
                  <a:schemeClr val="tx1"/>
                </a:solidFill>
              </a:rPr>
              <a:t>Blamed the margin collapse on sausage, not ketchup</a:t>
            </a:r>
            <a:endParaRPr lang="en-US" sz="1300" dirty="0"/>
          </a:p>
          <a:p>
            <a:pPr marL="342900" indent="-342900">
              <a:spcAft>
                <a:spcPts val="500"/>
              </a:spcAft>
              <a:buSzPct val="100000"/>
              <a:buChar char="•"/>
            </a:pPr>
            <a:r>
              <a:rPr lang="en-US" sz="1300" dirty="0">
                <a:solidFill>
                  <a:schemeClr val="tx1"/>
                </a:solidFill>
              </a:rPr>
              <a:t>Even noticed the inconsistency and explained it away</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7680960" cy="594360"/>
          </a:xfrm>
          <a:prstGeom prst="rect">
            <a:avLst/>
          </a:prstGeom>
          <a:noFill/>
          <a:ln/>
        </p:spPr>
        <p:txBody>
          <a:bodyPr wrap="square" lIns="0" tIns="0" rIns="0" bIns="0" rtlCol="0" anchor="ctr"/>
          <a:lstStyle/>
          <a:p>
            <a:pPr algn="l" indent="0" marL="0">
              <a:buNone/>
            </a:pPr>
            <a:r>
              <a:rPr lang="en-US" sz="2800" b="1" dirty="0">
                <a:solidFill>
                  <a:schemeClr val="tx2"/>
                </a:solidFill>
              </a:rPr>
              <a:t>Takeaways for Monday morning</a:t>
            </a:r>
            <a:endParaRPr lang="en-US" sz="2800" dirty="0"/>
          </a:p>
        </p:txBody>
      </p:sp>
      <p:sp>
        <p:nvSpPr>
          <p:cNvPr id="3" name="takeaway"/>
          <p:cNvSpPr/>
          <p:nvPr/>
        </p:nvSpPr>
        <p:spPr>
          <a:xfrm>
            <a:off x="457200" y="1188720"/>
            <a:ext cx="2606040" cy="2743200"/>
          </a:xfrm>
          <a:prstGeom prst="roundRect">
            <a:avLst>
              <a:gd name="adj" fmla="val 4211"/>
            </a:avLst>
          </a:prstGeom>
          <a:solidFill>
            <a:schemeClr val="bg2"/>
          </a:solidFill>
          <a:ln w="12700">
            <a:solidFill>
              <a:schemeClr val="bg2"/>
            </a:solidFill>
            <a:prstDash val="solid"/>
          </a:ln>
        </p:spPr>
      </p:sp>
      <p:sp>
        <p:nvSpPr>
          <p:cNvPr id="4" name="icon circle"/>
          <p:cNvSpPr/>
          <p:nvPr/>
        </p:nvSpPr>
        <p:spPr>
          <a:xfrm>
            <a:off x="731520" y="1417320"/>
            <a:ext cx="594360" cy="5943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862279" y="1548079"/>
            <a:ext cx="332842" cy="332842"/>
          </a:xfrm>
          <a:prstGeom prst="rect">
            <a:avLst/>
          </a:prstGeom>
        </p:spPr>
      </p:pic>
      <p:sp>
        <p:nvSpPr>
          <p:cNvPr id="6" name="Text 3"/>
          <p:cNvSpPr txBox="1"/>
          <p:nvPr/>
        </p:nvSpPr>
        <p:spPr>
          <a:xfrm>
            <a:off x="731520" y="2194560"/>
            <a:ext cx="2103120" cy="731520"/>
          </a:xfrm>
          <a:prstGeom prst="rect">
            <a:avLst/>
          </a:prstGeom>
          <a:noFill/>
          <a:ln/>
        </p:spPr>
        <p:txBody>
          <a:bodyPr wrap="square" lIns="0" tIns="0" rIns="0" bIns="0" rtlCol="0" anchor="t"/>
          <a:lstStyle/>
          <a:p>
            <a:pPr indent="0" marL="0">
              <a:buNone/>
            </a:pPr>
            <a:r>
              <a:rPr lang="en-US" sz="1800" b="1" dirty="0">
                <a:solidFill>
                  <a:schemeClr val="tx1"/>
                </a:solidFill>
              </a:rPr>
              <a:t>AI does the first 80%</a:t>
            </a:r>
            <a:endParaRPr lang="en-US" sz="1800" dirty="0"/>
          </a:p>
        </p:txBody>
      </p:sp>
      <p:sp>
        <p:nvSpPr>
          <p:cNvPr id="7" name="Text 4"/>
          <p:cNvSpPr txBox="1"/>
          <p:nvPr/>
        </p:nvSpPr>
        <p:spPr>
          <a:xfrm>
            <a:off x="731520" y="2971800"/>
            <a:ext cx="2103120" cy="1280160"/>
          </a:xfrm>
          <a:prstGeom prst="rect">
            <a:avLst/>
          </a:prstGeom>
          <a:noFill/>
          <a:ln/>
        </p:spPr>
        <p:txBody>
          <a:bodyPr wrap="square" lIns="0" tIns="0" rIns="0" bIns="0" rtlCol="0" anchor="t"/>
          <a:lstStyle/>
          <a:p>
            <a:pPr indent="0" marL="0">
              <a:buNone/>
            </a:pPr>
            <a:r>
              <a:rPr lang="en-US" sz="1300" dirty="0">
                <a:solidFill>
                  <a:schemeClr val="tx1"/>
                </a:solidFill>
              </a:rPr>
              <a:t>Exploring, joining and charting 41,000 rows takes minutes, not days.</a:t>
            </a:r>
            <a:endParaRPr lang="en-US" sz="1300" dirty="0"/>
          </a:p>
        </p:txBody>
      </p:sp>
      <p:sp>
        <p:nvSpPr>
          <p:cNvPr id="8" name="takeaway"/>
          <p:cNvSpPr/>
          <p:nvPr/>
        </p:nvSpPr>
        <p:spPr>
          <a:xfrm>
            <a:off x="3246120" y="1188720"/>
            <a:ext cx="2606040" cy="2743200"/>
          </a:xfrm>
          <a:prstGeom prst="roundRect">
            <a:avLst>
              <a:gd name="adj" fmla="val 4211"/>
            </a:avLst>
          </a:prstGeom>
          <a:solidFill>
            <a:schemeClr val="bg2"/>
          </a:solidFill>
          <a:ln w="12700">
            <a:solidFill>
              <a:schemeClr val="bg2"/>
            </a:solidFill>
            <a:prstDash val="solid"/>
          </a:ln>
        </p:spPr>
      </p:sp>
      <p:sp>
        <p:nvSpPr>
          <p:cNvPr id="9" name="icon circle"/>
          <p:cNvSpPr/>
          <p:nvPr/>
        </p:nvSpPr>
        <p:spPr>
          <a:xfrm>
            <a:off x="3520440" y="1417320"/>
            <a:ext cx="594360" cy="594360"/>
          </a:xfrm>
          <a:prstGeom prst="ellipse">
            <a:avLst/>
          </a:prstGeom>
          <a:solidFill>
            <a:schemeClr val="accent1"/>
          </a:solidFill>
          <a:ln w="12700">
            <a:solidFill>
              <a:schemeClr val="accent1"/>
            </a:solidFill>
            <a:prstDash val="solid"/>
          </a:ln>
        </p:spPr>
      </p:sp>
      <p:pic>
        <p:nvPicPr>
          <p:cNvPr id="10" name="icon" descr="preencoded.png">    </p:cNvPr>
          <p:cNvPicPr>
            <a:picLocks noChangeAspect="1"/>
          </p:cNvPicPr>
          <p:nvPr/>
        </p:nvPicPr>
        <p:blipFill>
          <a:blip r:embed="rId2"/>
          <a:stretch>
            <a:fillRect/>
          </a:stretch>
        </p:blipFill>
        <p:spPr>
          <a:xfrm>
            <a:off x="3651199" y="1548079"/>
            <a:ext cx="332842" cy="332842"/>
          </a:xfrm>
          <a:prstGeom prst="rect">
            <a:avLst/>
          </a:prstGeom>
        </p:spPr>
      </p:pic>
      <p:sp>
        <p:nvSpPr>
          <p:cNvPr id="11" name="Text 7"/>
          <p:cNvSpPr txBox="1"/>
          <p:nvPr/>
        </p:nvSpPr>
        <p:spPr>
          <a:xfrm>
            <a:off x="3520440" y="2194560"/>
            <a:ext cx="2103120" cy="731520"/>
          </a:xfrm>
          <a:prstGeom prst="rect">
            <a:avLst/>
          </a:prstGeom>
          <a:noFill/>
          <a:ln/>
        </p:spPr>
        <p:txBody>
          <a:bodyPr wrap="square" lIns="0" tIns="0" rIns="0" bIns="0" rtlCol="0" anchor="t"/>
          <a:lstStyle/>
          <a:p>
            <a:pPr indent="0" marL="0">
              <a:buNone/>
            </a:pPr>
            <a:r>
              <a:rPr lang="en-US" sz="1800" b="1" dirty="0">
                <a:solidFill>
                  <a:schemeClr val="tx1"/>
                </a:solidFill>
              </a:rPr>
              <a:t>You own the last 20%</a:t>
            </a:r>
            <a:endParaRPr lang="en-US" sz="1800" dirty="0"/>
          </a:p>
        </p:txBody>
      </p:sp>
      <p:sp>
        <p:nvSpPr>
          <p:cNvPr id="12" name="Text 8"/>
          <p:cNvSpPr txBox="1"/>
          <p:nvPr/>
        </p:nvSpPr>
        <p:spPr>
          <a:xfrm>
            <a:off x="3520440" y="2971800"/>
            <a:ext cx="2103120" cy="1280160"/>
          </a:xfrm>
          <a:prstGeom prst="rect">
            <a:avLst/>
          </a:prstGeom>
          <a:noFill/>
          <a:ln/>
        </p:spPr>
        <p:txBody>
          <a:bodyPr wrap="square" lIns="0" tIns="0" rIns="0" bIns="0" rtlCol="0" anchor="t"/>
          <a:lstStyle/>
          <a:p>
            <a:pPr indent="0" marL="0">
              <a:buNone/>
            </a:pPr>
            <a:r>
              <a:rPr lang="en-US" sz="1300" dirty="0">
                <a:solidFill>
                  <a:schemeClr val="tx1"/>
                </a:solidFill>
              </a:rPr>
              <a:t>Currencies, like-for-like, root causes: knowing the business is what catches the mistakes.</a:t>
            </a:r>
            <a:endParaRPr lang="en-US" sz="1300" dirty="0"/>
          </a:p>
        </p:txBody>
      </p:sp>
      <p:sp>
        <p:nvSpPr>
          <p:cNvPr id="13" name="takeaway"/>
          <p:cNvSpPr/>
          <p:nvPr/>
        </p:nvSpPr>
        <p:spPr>
          <a:xfrm>
            <a:off x="6035040" y="1188720"/>
            <a:ext cx="2606040" cy="2743200"/>
          </a:xfrm>
          <a:prstGeom prst="roundRect">
            <a:avLst>
              <a:gd name="adj" fmla="val 4211"/>
            </a:avLst>
          </a:prstGeom>
          <a:solidFill>
            <a:schemeClr val="accent2"/>
          </a:solidFill>
          <a:ln w="12700">
            <a:solidFill>
              <a:schemeClr val="accent2"/>
            </a:solidFill>
            <a:prstDash val="solid"/>
          </a:ln>
        </p:spPr>
      </p:sp>
      <p:sp>
        <p:nvSpPr>
          <p:cNvPr id="14" name="icon circle"/>
          <p:cNvSpPr/>
          <p:nvPr/>
        </p:nvSpPr>
        <p:spPr>
          <a:xfrm>
            <a:off x="6309360" y="1417320"/>
            <a:ext cx="594360" cy="594360"/>
          </a:xfrm>
          <a:prstGeom prst="ellipse">
            <a:avLst/>
          </a:prstGeom>
          <a:solidFill>
            <a:schemeClr val="accent1"/>
          </a:solidFill>
          <a:ln w="12700">
            <a:solidFill>
              <a:schemeClr val="accent1"/>
            </a:solidFill>
            <a:prstDash val="solid"/>
          </a:ln>
        </p:spPr>
      </p:sp>
      <p:pic>
        <p:nvPicPr>
          <p:cNvPr id="15" name="icon" descr="preencoded.png">    </p:cNvPr>
          <p:cNvPicPr>
            <a:picLocks noChangeAspect="1"/>
          </p:cNvPicPr>
          <p:nvPr/>
        </p:nvPicPr>
        <p:blipFill>
          <a:blip r:embed="rId3"/>
          <a:stretch>
            <a:fillRect/>
          </a:stretch>
        </p:blipFill>
        <p:spPr>
          <a:xfrm>
            <a:off x="6440119" y="1548079"/>
            <a:ext cx="332842" cy="332842"/>
          </a:xfrm>
          <a:prstGeom prst="rect">
            <a:avLst/>
          </a:prstGeom>
        </p:spPr>
      </p:pic>
      <p:sp>
        <p:nvSpPr>
          <p:cNvPr id="16" name="Text 11"/>
          <p:cNvSpPr txBox="1"/>
          <p:nvPr/>
        </p:nvSpPr>
        <p:spPr>
          <a:xfrm>
            <a:off x="6309360" y="2194560"/>
            <a:ext cx="2103120" cy="731520"/>
          </a:xfrm>
          <a:prstGeom prst="rect">
            <a:avLst/>
          </a:prstGeom>
          <a:noFill/>
          <a:ln/>
        </p:spPr>
        <p:txBody>
          <a:bodyPr wrap="square" lIns="0" tIns="0" rIns="0" bIns="0" rtlCol="0" anchor="t"/>
          <a:lstStyle/>
          <a:p>
            <a:pPr indent="0" marL="0">
              <a:buNone/>
            </a:pPr>
            <a:r>
              <a:rPr lang="en-US" sz="1800" b="1" dirty="0">
                <a:solidFill>
                  <a:schemeClr val="tx1"/>
                </a:solidFill>
              </a:rPr>
              <a:t>Where would this help us?</a:t>
            </a:r>
            <a:endParaRPr lang="en-US" sz="1800" dirty="0"/>
          </a:p>
        </p:txBody>
      </p:sp>
      <p:sp>
        <p:nvSpPr>
          <p:cNvPr id="17" name="Text 12"/>
          <p:cNvSpPr txBox="1"/>
          <p:nvPr/>
        </p:nvSpPr>
        <p:spPr>
          <a:xfrm>
            <a:off x="6309360" y="2971800"/>
            <a:ext cx="2103120" cy="1280160"/>
          </a:xfrm>
          <a:prstGeom prst="rect">
            <a:avLst/>
          </a:prstGeom>
          <a:noFill/>
          <a:ln/>
        </p:spPr>
        <p:txBody>
          <a:bodyPr wrap="square" lIns="0" tIns="0" rIns="0" bIns="0" rtlCol="0" anchor="t"/>
          <a:lstStyle/>
          <a:p>
            <a:pPr indent="0" marL="0">
              <a:buNone/>
            </a:pPr>
            <a:r>
              <a:rPr lang="en-US" sz="1300" dirty="0">
                <a:solidFill>
                  <a:schemeClr val="tx1"/>
                </a:solidFill>
              </a:rPr>
              <a:t>Name one task in our own work to try this on next week.</a:t>
            </a:r>
            <a:endParaRPr lang="en-US" sz="13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394960" cy="1280160"/>
          </a:xfrm>
          <a:prstGeom prst="rect">
            <a:avLst/>
          </a:prstGeom>
          <a:noFill/>
          <a:ln/>
        </p:spPr>
        <p:txBody>
          <a:bodyPr wrap="square" lIns="0" tIns="0" rIns="0" bIns="0" rtlCol="0" anchor="b"/>
          <a:lstStyle/>
          <a:p>
            <a:pPr algn="l" indent="0" marL="0">
              <a:buNone/>
            </a:pPr>
            <a:r>
              <a:rPr lang="en-US" sz="4400" b="1" dirty="0">
                <a:solidFill>
                  <a:schemeClr val="bg1"/>
                </a:solidFill>
              </a:rPr>
              <a:t>Tak!  ·  Dziękuję!</a:t>
            </a:r>
            <a:endParaRPr lang="en-US" sz="4400" dirty="0"/>
          </a:p>
        </p:txBody>
      </p:sp>
      <p:sp>
        <p:nvSpPr>
          <p:cNvPr id="3" name="Text 0"/>
          <p:cNvSpPr/>
          <p:nvPr>
            <p:ph idx="101" type="body" hasCustomPrompt="1"/>
          </p:nvPr>
        </p:nvSpPr>
        <p:spPr>
          <a:xfrm>
            <a:off x="548640" y="2788920"/>
            <a:ext cx="5394960" cy="914400"/>
          </a:xfrm>
          <a:prstGeom prst="rect">
            <a:avLst/>
          </a:prstGeom>
          <a:noFill/>
          <a:ln/>
        </p:spPr>
        <p:txBody>
          <a:bodyPr wrap="square" lIns="0" tIns="0" rIns="0" bIns="0" rtlCol="0" anchor="t"/>
          <a:lstStyle/>
          <a:p>
            <a:pPr indent="0" marL="0">
              <a:buNone/>
            </a:pPr>
            <a:r>
              <a:rPr lang="en-US" sz="1800" dirty="0">
                <a:solidFill>
                  <a:schemeClr val="bg2"/>
                </a:solidFill>
              </a:rPr>
              <a:t>Questions? Second helpings?</a:t>
            </a:r>
            <a:endParaRPr lang="en-US" sz="1800" dirty="0"/>
          </a:p>
        </p:txBody>
      </p:sp>
      <p:pic>
        <p:nvPicPr>
          <p:cNvPr id="4" name="hot dog" descr="preencoded.png">    </p:cNvPr>
          <p:cNvPicPr>
            <a:picLocks noChangeAspect="1"/>
          </p:cNvPicPr>
          <p:nvPr/>
        </p:nvPicPr>
        <p:blipFill>
          <a:blip r:embed="rId1"/>
          <a:stretch>
            <a:fillRect/>
          </a:stretch>
        </p:blipFill>
        <p:spPr>
          <a:xfrm>
            <a:off x="6126480" y="1005840"/>
            <a:ext cx="2651760" cy="2651760"/>
          </a:xfrm>
          <a:prstGeom prst="rect">
            <a:avLst/>
          </a:prstGeom>
        </p:spPr>
      </p:pic>
    </p:spTree>
  </p:cSld>
  <p:clrMapOvr>
    <a:masterClrMapping/>
  </p:clrMapOvr>
</p:sld>
</file>

<file path=ppt/theme/theme1.xml><?xml version="1.0" encoding="utf-8"?>
<a:theme xmlns:a="http://schemas.openxmlformats.org/drawingml/2006/main" name="Frankly Delicious">
  <a:themeElements>
    <a:clrScheme name="Frankly Delicious">
      <a:dk1>
        <a:srgbClr val="2A1D18"/>
      </a:dk1>
      <a:lt1>
        <a:srgbClr val="FFFFFF"/>
      </a:lt1>
      <a:dk2>
        <a:srgbClr val="8E1B14"/>
      </a:dk2>
      <a:lt2>
        <a:srgbClr val="FFF3CC"/>
      </a:lt2>
      <a:accent1>
        <a:srgbClr val="C62D1F"/>
      </a:accent1>
      <a:accent2>
        <a:srgbClr val="F2B705"/>
      </a:accent2>
      <a:accent3>
        <a:srgbClr val="B9783F"/>
      </a:accent3>
      <a:accent4>
        <a:srgbClr val="3F7D4E"/>
      </a:accent4>
      <a:accent5>
        <a:srgbClr val="5B6770"/>
      </a:accent5>
      <a:accent6>
        <a:srgbClr val="E8A33D"/>
      </a:accent6>
      <a:hlink>
        <a:srgbClr val="C62D1F"/>
      </a:hlink>
      <a:folHlink>
        <a:srgbClr val="8E1B14"/>
      </a:folHlink>
    </a:clrScheme>
    <a:fontScheme name="Frankly Delicious">
      <a:majorFont>
        <a:latin typeface="Bookman Old Sty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Frankly Delicious - AI workshop</dc:title>
  <dc:subject>PptxGenJS Presentation</dc:subject>
  <dc:creator>Jesper</dc:creator>
  <cp:lastModifiedBy>Jesper</cp:lastModifiedBy>
  <cp:revision>1</cp:revision>
  <dcterms:created xsi:type="dcterms:W3CDTF">2026-10-06T18:43:30Z</dcterms:created>
  <dcterms:modified xsi:type="dcterms:W3CDTF">2026-10-06T18:43:30Z</dcterms:modified>
</cp:coreProperties>
</file>